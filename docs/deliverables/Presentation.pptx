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 $ per month</c:v>
                </c:pt>
              </c:strCache>
            </c:strRef>
          </c:tx>
          <c:dPt>
            <c:idx val="0"/>
            <c:spPr>
              <a:solidFill>
                <a:srgbClr val="1E8E3E"/>
              </a:solidFill>
            </c:spPr>
          </c:dPt>
          <c:dPt>
            <c:idx val="1"/>
            <c:spPr>
              <a:solidFill>
                <a:srgbClr val="FF9900"/>
              </a:solidFill>
            </c:spPr>
          </c:dPt>
          <c:dPt>
            <c:idx val="2"/>
            <c:spPr>
              <a:solidFill>
                <a:srgbClr val="C62828"/>
              </a:solidFill>
            </c:spPr>
          </c:dPt>
          <c:cat>
            <c:strRef>
              <c:f>Sheet1!$A$2:$A$4</c:f>
              <c:strCache>
                <c:ptCount val="3"/>
                <c:pt idx="0">
                  <c:v>Sessions only (our model)</c:v>
                </c:pt>
                <c:pt idx="1">
                  <c:v>Primary + stopped standbys</c:v>
                </c:pt>
                <c:pt idx="2">
                  <c:v>Active-active 24/7</c:v>
                </c:pt>
              </c:strCache>
            </c:strRef>
          </c:cat>
          <c:val>
            <c:numRef>
              <c:f>Sheet1!$B$2:$B$4</c:f>
              <c:numCache>
                <c:formatCode>General</c:formatCode>
                <c:ptCount val="3"/>
                <c:pt idx="0">
                  <c:v>17</c:v>
                </c:pt>
                <c:pt idx="1">
                  <c:v>140</c:v>
                </c:pt>
                <c:pt idx="2">
                  <c:v>352</c:v>
                </c:pt>
              </c:numCache>
            </c:numRef>
          </c:val>
        </c:ser>
        <c:dLbls>
          <c:numFmt formatCode="&quot;$&quot;0" sourceLinked="0"/>
          <c:txPr>
            <a:bodyPr/>
            <a:lstStyle/>
            <a:p>
              <a:pPr>
                <a:defRPr sz="16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20 s. Introduce yourself and the project in one sentence: a real microservice shop that runs in three clouds, built entirely as code, which keeps serving customers when a whole cloud fails.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 s. The task: one Terraform-based system that runs an application in all three big clouds, keeps them consistent, fails over automatically, recovers data and shows health and cost. These five goals are the structure of the rest of the talk — each one has a slide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 s. Walk the picture top-down: shoppers hit Cloudflare, which sends them to the first healthy cloud. GCP is the primary and also hosts Jenkins and the central Grafana. Azure and AWS are complete copies that sleep — like a stopped EC2 instance — so they cost almost nothing but are ready. Every cloud uses its own vault, registry and backup bucket; only the database is shared.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 s. Don't read the slide. Point out: three languages on purpose (a polyglot platform), Terraform for absolutely everything including DNS and database users, and that the same tools run identically in every cloud.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 s. Four layers per cloud with different lifetimes. The expensive parts — clusters, add-ons, global routing — exist only during a working session. up.yml creates all three clusters in parallel; down.yml removes them. Every Terraform apply goes through a guard: plan, check the type of every change, apply exactly that plan — a surprise delete or replace stops the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 s. The key message: there is not a single long-lived cloud key in this project. Every robot proves who it is with a short-lived token and can do exactly one job — the backup identity can write a backup but cannot even read one. Mention the honest finding: the final test uncovered an old 0.0.0.0/0 entry on the database allow-list, which was removed.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75 s. Follow one change: a pull request runs tests and two security scanners; merging builds ONE image and pushes the same digest to all three registries without any stored key; Jenkins then rolls it out one cloud at a time with a smoke test after each. A failure rolls that cloud back and stops, so the others keep the old version. Rolling updates with readiness probes mean no request fails during a deploy. If a registry is down, CI still pushes to the others and waits with the deploy.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75 s. The drill closed GCP's front door while both standbys were asleep. Cloudflare noticed within 15 seconds and told a Cloudflare Worker, which started a GitHub workflow; that workflow woke Azure and AWS using identities that can only start them. AWS answered first, and the shop was back after 3 minutes 42 seconds — with nobody touching anything. The design rule: the thing that rescues GCP does not run in GCP.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50 s. Every night the database is dumped with a read-only user, encrypted with a public key — so the backup job can never decrypt anything — fingerprinted, and stored in all three clouds. The restore drill downloads the newest copy from each cloud, checks the fingerprint, decrypts it with the private key from the vault and restores into a scratch database, comparing every collection's document count. All three passed.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50 s. Each cluster runs its own Prometheus, Loki and OpenCost, installed from the same tagged module so the rules are identical. The central Grafana shows all three clouds side by side. In the test we removed one service in AWS: within three minutes Slack had the MernServiceDown alert and the Cloudflare pool alert — and the RESOLVED message after we restored it. Alerts come from each cloud directly, so they still work if GCP is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 s. Cost is 10 % of the marks, so be concrete. Running all three clouds around the clock would cost about 350 dollars a month in nodes alone. The stopped-standby model cuts that by 60 %. And because we only run clusters during working sessions, the real bill for a whole month of building and testing was about 17 dollars. Budgets with e-mail alerts sit on every account, and the teardown refuses to finish while a load balancer or disk would be left behind — the classic silent 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60 s. In one final session we ran every scenario end to end; all six passed. Be honest about what went wrong — the panel values it: an expired AWS login, the home IP changing between Wi-Fi and hotspot, an unreachable GitHub download server, a slow AWS scale-to-zero and a load balancer that survived its controller. Each one was caught by a safety check, and each one is now in the runbook.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40 s. Name the limitations before the panel does. The biggest is the shared database: data is safe in three clouds, but not replicated live. Then show that each limitation has a concrete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15 s. Offer the live demo if a session is running (start up.yml 40 minutes before). Good backup answers: why multi-cloud (no single provider outage stops the shop), why stopped standbys (cost vs. a few minutes of RTO), why a shared database (consistency, free tier; mitigated by backups).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777240" cy="10972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463040"/>
            <a:ext cx="777240" cy="10972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560320" y="1463040"/>
            <a:ext cx="777240" cy="10972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10515600" cy="1097280"/>
          </a:xfrm>
          <a:prstGeom prst="rect">
            <a:avLst/>
          </a:prstGeom>
          <a:noFill/>
        </p:spPr>
        <p:txBody>
          <a:bodyPr wrap="square" lIns="45720" rIns="45720" tIns="18288" bIns="18288" anchor="t">
            <a:spAutoFit/>
          </a:bodyPr>
          <a:lstStyle/>
          <a:p>
            <a:pPr algn="l">
              <a:spcAft>
                <a:spcPts val="400"/>
              </a:spcAft>
            </a:pPr>
            <a:r>
              <a:rPr sz="5400" b="1" i="0">
                <a:solidFill>
                  <a:srgbClr val="FFFFFF"/>
                </a:solidFill>
                <a:latin typeface="Calibri"/>
              </a:rPr>
              <a:t>Multi-Cloud MERN Platform</a:t>
            </a:r>
          </a:p>
        </p:txBody>
      </p:sp>
      <p:sp>
        <p:nvSpPr>
          <p:cNvPr id="7" name="TextBox 6"/>
          <p:cNvSpPr txBox="1"/>
          <p:nvPr/>
        </p:nvSpPr>
        <p:spPr>
          <a:xfrm>
            <a:off x="731520" y="2880360"/>
            <a:ext cx="10515600" cy="914400"/>
          </a:xfrm>
          <a:prstGeom prst="rect">
            <a:avLst/>
          </a:prstGeom>
          <a:noFill/>
        </p:spPr>
        <p:txBody>
          <a:bodyPr wrap="square" lIns="45720" rIns="45720" tIns="18288" bIns="18288" anchor="t">
            <a:spAutoFit/>
          </a:bodyPr>
          <a:lstStyle/>
          <a:p>
            <a:pPr algn="l">
              <a:spcAft>
                <a:spcPts val="400"/>
              </a:spcAft>
            </a:pPr>
            <a:r>
              <a:rPr sz="2200" b="0" i="0">
                <a:solidFill>
                  <a:srgbClr val="C9D6EA"/>
                </a:solidFill>
                <a:latin typeface="Calibri"/>
              </a:rPr>
              <a:t>One shop, three clouds: Terraform, keyless CI/CD, automatic failover and disaster recovery across GCP, Azure and AWS</a:t>
            </a:r>
          </a:p>
        </p:txBody>
      </p:sp>
      <p:sp>
        <p:nvSpPr>
          <p:cNvPr id="8" name="TextBox 7"/>
          <p:cNvSpPr txBox="1"/>
          <p:nvPr/>
        </p:nvSpPr>
        <p:spPr>
          <a:xfrm>
            <a:off x="731520" y="4846320"/>
            <a:ext cx="10058400" cy="457200"/>
          </a:xfrm>
          <a:prstGeom prst="rect">
            <a:avLst/>
          </a:prstGeom>
          <a:noFill/>
        </p:spPr>
        <p:txBody>
          <a:bodyPr wrap="square" lIns="45720" rIns="45720" tIns="18288" bIns="18288" anchor="t">
            <a:spAutoFit/>
          </a:bodyPr>
          <a:lstStyle/>
          <a:p>
            <a:pPr algn="l">
              <a:spcAft>
                <a:spcPts val="400"/>
              </a:spcAft>
            </a:pPr>
            <a:r>
              <a:rPr sz="2000" b="1" i="0">
                <a:solidFill>
                  <a:srgbClr val="FFFFFF"/>
                </a:solidFill>
                <a:latin typeface="Calibri"/>
              </a:rPr>
              <a:t>Rishav Mukhopadhyay</a:t>
            </a:r>
          </a:p>
        </p:txBody>
      </p:sp>
      <p:sp>
        <p:nvSpPr>
          <p:cNvPr id="9" name="TextBox 8"/>
          <p:cNvSpPr txBox="1"/>
          <p:nvPr/>
        </p:nvSpPr>
        <p:spPr>
          <a:xfrm>
            <a:off x="731520" y="5303520"/>
            <a:ext cx="10058400" cy="822960"/>
          </a:xfrm>
          <a:prstGeom prst="rect">
            <a:avLst/>
          </a:prstGeom>
          <a:noFill/>
        </p:spPr>
        <p:txBody>
          <a:bodyPr wrap="square" lIns="45720" rIns="45720" tIns="18288" bIns="18288" anchor="t">
            <a:spAutoFit/>
          </a:bodyPr>
          <a:lstStyle/>
          <a:p>
            <a:pPr algn="l">
              <a:spcAft>
                <a:spcPts val="400"/>
              </a:spcAft>
            </a:pPr>
            <a:r>
              <a:rPr sz="1500" b="0" i="0">
                <a:solidFill>
                  <a:srgbClr val="C9D6EA"/>
                </a:solidFill>
                <a:latin typeface="Calibri"/>
              </a:rPr>
              <a:t>HeroVired DevOps Capstone · Problem Statement #5 — Multi-Cloud Deployment and Management with Terraform</a:t>
            </a:r>
          </a:p>
          <a:p>
            <a:pPr algn="l">
              <a:spcAft>
                <a:spcPts val="400"/>
              </a:spcAft>
            </a:pPr>
            <a:r>
              <a:rPr sz="1500" b="0" i="0">
                <a:solidFill>
                  <a:srgbClr val="C9D6EA"/>
                </a:solidFill>
                <a:latin typeface="Calibri"/>
              </a:rPr>
              <a:t>github.com/ppmcad16a-cloud-platform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PROBLEM STATEMENT #5</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The problem and what had to be proven</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2</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120640" cy="44805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4754880" cy="2194560"/>
          </a:xfrm>
          <a:prstGeom prst="rect">
            <a:avLst/>
          </a:prstGeom>
          <a:noFill/>
        </p:spPr>
        <p:txBody>
          <a:bodyPr wrap="square" lIns="45720" rIns="45720" tIns="18288" bIns="18288" anchor="t">
            <a:spAutoFit/>
          </a:bodyPr>
          <a:lstStyle/>
          <a:p>
            <a:pPr algn="l">
              <a:spcAft>
                <a:spcPts val="400"/>
              </a:spcAft>
            </a:pPr>
            <a:r>
              <a:rPr sz="4000" b="1" i="0">
                <a:solidFill>
                  <a:srgbClr val="1A73E8"/>
                </a:solidFill>
                <a:latin typeface="Calibri"/>
              </a:rPr>
              <a:t>“</a:t>
            </a:r>
          </a:p>
          <a:p>
            <a:pPr algn="l">
              <a:spcAft>
                <a:spcPts val="400"/>
              </a:spcAft>
            </a:pPr>
            <a:r>
              <a:rPr sz="1800" b="0" i="1">
                <a:solidFill>
                  <a:srgbClr val="262B36"/>
                </a:solidFill>
                <a:latin typeface="Calibri"/>
              </a:rPr>
              <a:t>Managing resources across AWS, Azure and GCP is complex and error-prone, especially when trying to keep configurations consistent and fail over across clouds.</a:t>
            </a:r>
          </a:p>
        </p:txBody>
      </p:sp>
      <p:sp>
        <p:nvSpPr>
          <p:cNvPr id="9" name="TextBox 8"/>
          <p:cNvSpPr txBox="1"/>
          <p:nvPr/>
        </p:nvSpPr>
        <p:spPr>
          <a:xfrm>
            <a:off x="777240" y="4069080"/>
            <a:ext cx="4754880" cy="1645920"/>
          </a:xfrm>
          <a:prstGeom prst="rect">
            <a:avLst/>
          </a:prstGeom>
          <a:noFill/>
        </p:spPr>
        <p:txBody>
          <a:bodyPr wrap="square" lIns="45720" rIns="45720" tIns="18288" bIns="18288" anchor="t">
            <a:spAutoFit/>
          </a:bodyPr>
          <a:lstStyle/>
          <a:p>
            <a:pPr algn="l">
              <a:spcAft>
                <a:spcPts val="400"/>
              </a:spcAft>
            </a:pPr>
            <a:r>
              <a:rPr sz="1500" b="1" i="0">
                <a:solidFill>
                  <a:srgbClr val="142447"/>
                </a:solidFill>
                <a:latin typeface="Calibri"/>
              </a:rPr>
              <a:t>Scoring  </a:t>
            </a:r>
          </a:p>
          <a:p>
            <a:pPr algn="l">
              <a:spcAft>
                <a:spcPts val="400"/>
              </a:spcAft>
            </a:pPr>
            <a:r>
              <a:rPr sz="1500" b="0" i="0">
                <a:solidFill>
                  <a:srgbClr val="5F6778"/>
                </a:solidFill>
                <a:latin typeface="Calibri"/>
              </a:rPr>
              <a:t>Implementation 75 % · Documentation 15 % · Cost optimisation 10 %</a:t>
            </a:r>
          </a:p>
        </p:txBody>
      </p:sp>
      <p:sp>
        <p:nvSpPr>
          <p:cNvPr id="10" name="Rectangle 9"/>
          <p:cNvSpPr/>
          <p:nvPr/>
        </p:nvSpPr>
        <p:spPr>
          <a:xfrm>
            <a:off x="6035040" y="1417320"/>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417320"/>
            <a:ext cx="91440" cy="7498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417320"/>
            <a:ext cx="5303520" cy="749808"/>
          </a:xfrm>
          <a:prstGeom prst="rect">
            <a:avLst/>
          </a:prstGeom>
          <a:noFill/>
        </p:spPr>
        <p:txBody>
          <a:bodyPr wrap="square" lIns="45720" rIns="45720" tIns="18288" bIns="18288" anchor="ctr">
            <a:spAutoFit/>
          </a:bodyPr>
          <a:lstStyle/>
          <a:p>
            <a:pPr algn="l">
              <a:spcAft>
                <a:spcPts val="400"/>
              </a:spcAft>
            </a:pPr>
            <a:r>
              <a:rPr sz="1700" b="0" i="0">
                <a:solidFill>
                  <a:srgbClr val="262B36"/>
                </a:solidFill>
                <a:latin typeface="Calibri"/>
              </a:rPr>
              <a:t>1  Deploy to AWS, Azure and GCP with Terraform</a:t>
            </a:r>
          </a:p>
        </p:txBody>
      </p:sp>
      <p:sp>
        <p:nvSpPr>
          <p:cNvPr id="13" name="Rectangle 12"/>
          <p:cNvSpPr/>
          <p:nvPr/>
        </p:nvSpPr>
        <p:spPr>
          <a:xfrm>
            <a:off x="6035040" y="2313432"/>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2313432"/>
            <a:ext cx="91440" cy="74980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313432"/>
            <a:ext cx="5303520" cy="749808"/>
          </a:xfrm>
          <a:prstGeom prst="rect">
            <a:avLst/>
          </a:prstGeom>
          <a:noFill/>
        </p:spPr>
        <p:txBody>
          <a:bodyPr wrap="square" lIns="45720" rIns="45720" tIns="18288" bIns="18288" anchor="ctr">
            <a:spAutoFit/>
          </a:bodyPr>
          <a:lstStyle/>
          <a:p>
            <a:pPr algn="l">
              <a:spcAft>
                <a:spcPts val="400"/>
              </a:spcAft>
            </a:pPr>
            <a:r>
              <a:rPr sz="1700" b="0" i="0">
                <a:solidFill>
                  <a:srgbClr val="262B36"/>
                </a:solidFill>
                <a:latin typeface="Calibri"/>
              </a:rPr>
              <a:t>2  Automate infrastructure + configuration with reusable modules</a:t>
            </a:r>
          </a:p>
        </p:txBody>
      </p:sp>
      <p:sp>
        <p:nvSpPr>
          <p:cNvPr id="16" name="Rectangle 15"/>
          <p:cNvSpPr/>
          <p:nvPr/>
        </p:nvSpPr>
        <p:spPr>
          <a:xfrm>
            <a:off x="6035040" y="3209544"/>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0" y="3209544"/>
            <a:ext cx="91440" cy="74980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3209544"/>
            <a:ext cx="5303520" cy="749808"/>
          </a:xfrm>
          <a:prstGeom prst="rect">
            <a:avLst/>
          </a:prstGeom>
          <a:noFill/>
        </p:spPr>
        <p:txBody>
          <a:bodyPr wrap="square" lIns="45720" rIns="45720" tIns="18288" bIns="18288" anchor="ctr">
            <a:spAutoFit/>
          </a:bodyPr>
          <a:lstStyle/>
          <a:p>
            <a:pPr algn="l">
              <a:spcAft>
                <a:spcPts val="400"/>
              </a:spcAft>
            </a:pPr>
            <a:r>
              <a:rPr sz="1700" b="0" i="0">
                <a:solidFill>
                  <a:srgbClr val="262B36"/>
                </a:solidFill>
                <a:latin typeface="Calibri"/>
              </a:rPr>
              <a:t>3  Load balancing and automatic failover between clouds</a:t>
            </a:r>
          </a:p>
        </p:txBody>
      </p:sp>
      <p:sp>
        <p:nvSpPr>
          <p:cNvPr id="19" name="Rectangle 18"/>
          <p:cNvSpPr/>
          <p:nvPr/>
        </p:nvSpPr>
        <p:spPr>
          <a:xfrm>
            <a:off x="6035040" y="4105656"/>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4105656"/>
            <a:ext cx="91440" cy="7498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105656"/>
            <a:ext cx="5303520" cy="749808"/>
          </a:xfrm>
          <a:prstGeom prst="rect">
            <a:avLst/>
          </a:prstGeom>
          <a:noFill/>
        </p:spPr>
        <p:txBody>
          <a:bodyPr wrap="square" lIns="45720" rIns="45720" tIns="18288" bIns="18288" anchor="ctr">
            <a:spAutoFit/>
          </a:bodyPr>
          <a:lstStyle/>
          <a:p>
            <a:pPr algn="l">
              <a:spcAft>
                <a:spcPts val="400"/>
              </a:spcAft>
            </a:pPr>
            <a:r>
              <a:rPr sz="1700" b="0" i="0">
                <a:solidFill>
                  <a:srgbClr val="262B36"/>
                </a:solidFill>
                <a:latin typeface="Calibri"/>
              </a:rPr>
              <a:t>4  Disaster recovery — data in every cloud, tested restores</a:t>
            </a:r>
          </a:p>
        </p:txBody>
      </p:sp>
      <p:sp>
        <p:nvSpPr>
          <p:cNvPr id="22" name="Rectangle 21"/>
          <p:cNvSpPr/>
          <p:nvPr/>
        </p:nvSpPr>
        <p:spPr>
          <a:xfrm>
            <a:off x="6035040" y="5001768"/>
            <a:ext cx="5577840" cy="74980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0" y="5001768"/>
            <a:ext cx="91440" cy="74980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5001768"/>
            <a:ext cx="5303520" cy="749808"/>
          </a:xfrm>
          <a:prstGeom prst="rect">
            <a:avLst/>
          </a:prstGeom>
          <a:noFill/>
        </p:spPr>
        <p:txBody>
          <a:bodyPr wrap="square" lIns="45720" rIns="45720" tIns="18288" bIns="18288" anchor="ctr">
            <a:spAutoFit/>
          </a:bodyPr>
          <a:lstStyle/>
          <a:p>
            <a:pPr algn="l">
              <a:spcAft>
                <a:spcPts val="400"/>
              </a:spcAft>
            </a:pPr>
            <a:r>
              <a:rPr sz="1700" b="0" i="0">
                <a:solidFill>
                  <a:srgbClr val="262B36"/>
                </a:solidFill>
                <a:latin typeface="Calibri"/>
              </a:rPr>
              <a:t>5  Monitoring, alerts and cost visibility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ARCHITECTURE</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One shop, three clouds, one front door</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3</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ounded Rectangle 6"/>
          <p:cNvSpPr/>
          <p:nvPr/>
        </p:nvSpPr>
        <p:spPr>
          <a:xfrm>
            <a:off x="3246120" y="1325880"/>
            <a:ext cx="2194560" cy="384048"/>
          </a:xfrm>
          <a:prstGeom prst="roundRect">
            <a:avLst>
              <a:gd name="adj" fmla="val 50000"/>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46120" y="1325880"/>
            <a:ext cx="2194560" cy="384048"/>
          </a:xfrm>
          <a:prstGeom prst="rect">
            <a:avLst/>
          </a:prstGeom>
          <a:noFill/>
        </p:spPr>
        <p:txBody>
          <a:bodyPr wrap="square" lIns="45720" rIns="45720" tIns="18288" bIns="18288" anchor="ctr">
            <a:spAutoFit/>
          </a:bodyPr>
          <a:lstStyle/>
          <a:p>
            <a:pPr algn="ctr">
              <a:spcAft>
                <a:spcPts val="400"/>
              </a:spcAft>
            </a:pPr>
            <a:r>
              <a:rPr sz="1400" b="1" i="0">
                <a:solidFill>
                  <a:srgbClr val="262B36"/>
                </a:solidFill>
                <a:latin typeface="Calibri"/>
              </a:rPr>
              <a:t>Shoppers</a:t>
            </a:r>
          </a:p>
        </p:txBody>
      </p:sp>
      <p:sp>
        <p:nvSpPr>
          <p:cNvPr id="9" name="Rectangle 8"/>
          <p:cNvSpPr/>
          <p:nvPr/>
        </p:nvSpPr>
        <p:spPr>
          <a:xfrm>
            <a:off x="548640" y="1828800"/>
            <a:ext cx="7589520" cy="65836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28800"/>
            <a:ext cx="7589520" cy="658368"/>
          </a:xfrm>
          <a:prstGeom prst="rect">
            <a:avLst/>
          </a:prstGeom>
          <a:noFill/>
        </p:spPr>
        <p:txBody>
          <a:bodyPr wrap="square" lIns="45720" rIns="45720" tIns="18288" bIns="18288" anchor="ctr">
            <a:spAutoFit/>
          </a:bodyPr>
          <a:lstStyle/>
          <a:p>
            <a:pPr algn="ctr">
              <a:spcAft>
                <a:spcPts val="400"/>
              </a:spcAft>
            </a:pPr>
            <a:r>
              <a:rPr sz="1700" b="1" i="0">
                <a:solidFill>
                  <a:srgbClr val="FFFFFF"/>
                </a:solidFill>
                <a:latin typeface="Calibri"/>
              </a:rPr>
              <a:t>Cloudflare  </a:t>
            </a:r>
            <a:r>
              <a:rPr sz="1300" b="0" i="0">
                <a:solidFill>
                  <a:srgbClr val="C9D6EA"/>
                </a:solidFill>
                <a:latin typeface="Calibri"/>
              </a:rPr>
              <a:t>DNS · TLS Full (strict) · Load Balancer · health check /api/health every 60 s</a:t>
            </a:r>
          </a:p>
        </p:txBody>
      </p:sp>
      <p:sp>
        <p:nvSpPr>
          <p:cNvPr id="11" name="TextBox 10"/>
          <p:cNvSpPr txBox="1"/>
          <p:nvPr/>
        </p:nvSpPr>
        <p:spPr>
          <a:xfrm>
            <a:off x="548640" y="2542032"/>
            <a:ext cx="2414016" cy="292608"/>
          </a:xfrm>
          <a:prstGeom prst="rect">
            <a:avLst/>
          </a:prstGeom>
          <a:noFill/>
        </p:spPr>
        <p:txBody>
          <a:bodyPr wrap="square" lIns="45720" rIns="45720" tIns="18288" bIns="18288" anchor="t">
            <a:spAutoFit/>
          </a:bodyPr>
          <a:lstStyle/>
          <a:p>
            <a:pPr algn="ctr">
              <a:spcAft>
                <a:spcPts val="400"/>
              </a:spcAft>
            </a:pPr>
            <a:r>
              <a:rPr sz="1200" b="1" i="0">
                <a:solidFill>
                  <a:srgbClr val="1E8E3E"/>
                </a:solidFill>
                <a:latin typeface="Calibri"/>
              </a:rPr>
              <a:t>▼ serving</a:t>
            </a:r>
          </a:p>
        </p:txBody>
      </p:sp>
      <p:sp>
        <p:nvSpPr>
          <p:cNvPr id="12" name="Rectangle 11"/>
          <p:cNvSpPr/>
          <p:nvPr/>
        </p:nvSpPr>
        <p:spPr>
          <a:xfrm>
            <a:off x="548640"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852928"/>
            <a:ext cx="2414016" cy="65836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852928"/>
            <a:ext cx="2414016" cy="658368"/>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GCP · GKE</a:t>
            </a:r>
          </a:p>
          <a:p>
            <a:pPr algn="ctr">
              <a:spcAft>
                <a:spcPts val="400"/>
              </a:spcAft>
            </a:pPr>
            <a:r>
              <a:rPr sz="1100" b="0" i="0">
                <a:solidFill>
                  <a:srgbClr val="FFFFFF"/>
                </a:solidFill>
                <a:latin typeface="Calibri"/>
              </a:rPr>
              <a:t>PRIMARY · always on</a:t>
            </a:r>
          </a:p>
        </p:txBody>
      </p:sp>
      <p:sp>
        <p:nvSpPr>
          <p:cNvPr id="15" name="TextBox 14"/>
          <p:cNvSpPr txBox="1"/>
          <p:nvPr/>
        </p:nvSpPr>
        <p:spPr>
          <a:xfrm>
            <a:off x="658368" y="3611880"/>
            <a:ext cx="2240280" cy="141732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 Envoy Gateway → 6 services</a:t>
            </a:r>
          </a:p>
          <a:p>
            <a:pPr algn="l">
              <a:spcAft>
                <a:spcPts val="400"/>
              </a:spcAft>
            </a:pPr>
            <a:r>
              <a:rPr sz="1200" b="0" i="0">
                <a:solidFill>
                  <a:srgbClr val="262B36"/>
                </a:solidFill>
                <a:latin typeface="Calibri"/>
              </a:rPr>
              <a:t>· Jenkins (CD) · central Grafana</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Secret Manager · Artifact Registry</a:t>
            </a:r>
          </a:p>
        </p:txBody>
      </p:sp>
      <p:sp>
        <p:nvSpPr>
          <p:cNvPr id="16" name="TextBox 15"/>
          <p:cNvSpPr txBox="1"/>
          <p:nvPr/>
        </p:nvSpPr>
        <p:spPr>
          <a:xfrm>
            <a:off x="3136392" y="2542032"/>
            <a:ext cx="2414016" cy="292608"/>
          </a:xfrm>
          <a:prstGeom prst="rect">
            <a:avLst/>
          </a:prstGeom>
          <a:noFill/>
        </p:spPr>
        <p:txBody>
          <a:bodyPr wrap="square" lIns="45720" rIns="45720" tIns="18288" bIns="18288" anchor="t">
            <a:spAutoFit/>
          </a:bodyPr>
          <a:lstStyle/>
          <a:p>
            <a:pPr algn="ctr">
              <a:spcAft>
                <a:spcPts val="400"/>
              </a:spcAft>
            </a:pPr>
            <a:r>
              <a:rPr sz="1200" b="1" i="0">
                <a:solidFill>
                  <a:srgbClr val="FF9900"/>
                </a:solidFill>
                <a:latin typeface="Calibri"/>
              </a:rPr>
              <a:t>▼ if GCP fails</a:t>
            </a:r>
          </a:p>
        </p:txBody>
      </p:sp>
      <p:sp>
        <p:nvSpPr>
          <p:cNvPr id="17" name="Rectangle 16"/>
          <p:cNvSpPr/>
          <p:nvPr/>
        </p:nvSpPr>
        <p:spPr>
          <a:xfrm>
            <a:off x="3136392"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36392" y="2852928"/>
            <a:ext cx="2414016" cy="65836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36392" y="2852928"/>
            <a:ext cx="2414016" cy="658368"/>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Azure · AKS</a:t>
            </a:r>
          </a:p>
          <a:p>
            <a:pPr algn="ctr">
              <a:spcAft>
                <a:spcPts val="400"/>
              </a:spcAft>
            </a:pPr>
            <a:r>
              <a:rPr sz="1100" b="0" i="0">
                <a:solidFill>
                  <a:srgbClr val="FFFFFF"/>
                </a:solidFill>
                <a:latin typeface="Calibri"/>
              </a:rPr>
              <a:t>STANDBY · stopped</a:t>
            </a:r>
          </a:p>
        </p:txBody>
      </p:sp>
      <p:sp>
        <p:nvSpPr>
          <p:cNvPr id="20" name="TextBox 19"/>
          <p:cNvSpPr txBox="1"/>
          <p:nvPr/>
        </p:nvSpPr>
        <p:spPr>
          <a:xfrm>
            <a:off x="3246120" y="3611880"/>
            <a:ext cx="2240280" cy="141732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 Envoy Gateway → 6 services</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Key Vault · ACR</a:t>
            </a:r>
          </a:p>
        </p:txBody>
      </p:sp>
      <p:sp>
        <p:nvSpPr>
          <p:cNvPr id="21" name="TextBox 20"/>
          <p:cNvSpPr txBox="1"/>
          <p:nvPr/>
        </p:nvSpPr>
        <p:spPr>
          <a:xfrm>
            <a:off x="5724144" y="2542032"/>
            <a:ext cx="2414016" cy="292608"/>
          </a:xfrm>
          <a:prstGeom prst="rect">
            <a:avLst/>
          </a:prstGeom>
          <a:noFill/>
        </p:spPr>
        <p:txBody>
          <a:bodyPr wrap="square" lIns="45720" rIns="45720" tIns="18288" bIns="18288" anchor="t">
            <a:spAutoFit/>
          </a:bodyPr>
          <a:lstStyle/>
          <a:p>
            <a:pPr algn="ctr">
              <a:spcAft>
                <a:spcPts val="400"/>
              </a:spcAft>
            </a:pPr>
            <a:r>
              <a:rPr sz="1200" b="1" i="0">
                <a:solidFill>
                  <a:srgbClr val="FF9900"/>
                </a:solidFill>
                <a:latin typeface="Calibri"/>
              </a:rPr>
              <a:t>▼ if GCP + Azure fail</a:t>
            </a:r>
          </a:p>
        </p:txBody>
      </p:sp>
      <p:sp>
        <p:nvSpPr>
          <p:cNvPr id="22" name="Rectangle 21"/>
          <p:cNvSpPr/>
          <p:nvPr/>
        </p:nvSpPr>
        <p:spPr>
          <a:xfrm>
            <a:off x="5724144" y="2852928"/>
            <a:ext cx="2414016" cy="2212848"/>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24144" y="2852928"/>
            <a:ext cx="2414016" cy="65836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24144" y="2852928"/>
            <a:ext cx="2414016" cy="658368"/>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AWS · EKS</a:t>
            </a:r>
          </a:p>
          <a:p>
            <a:pPr algn="ctr">
              <a:spcAft>
                <a:spcPts val="400"/>
              </a:spcAft>
            </a:pPr>
            <a:r>
              <a:rPr sz="1100" b="0" i="0">
                <a:solidFill>
                  <a:srgbClr val="FFFFFF"/>
                </a:solidFill>
                <a:latin typeface="Calibri"/>
              </a:rPr>
              <a:t>STANDBY · 0 nodes</a:t>
            </a:r>
          </a:p>
        </p:txBody>
      </p:sp>
      <p:sp>
        <p:nvSpPr>
          <p:cNvPr id="25" name="TextBox 24"/>
          <p:cNvSpPr txBox="1"/>
          <p:nvPr/>
        </p:nvSpPr>
        <p:spPr>
          <a:xfrm>
            <a:off x="5833872" y="3611880"/>
            <a:ext cx="2240280" cy="141732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 NLB → Envoy Gateway → 6 services</a:t>
            </a:r>
          </a:p>
          <a:p>
            <a:pPr algn="l">
              <a:spcAft>
                <a:spcPts val="400"/>
              </a:spcAft>
            </a:pPr>
            <a:r>
              <a:rPr sz="1200" b="0" i="0">
                <a:solidFill>
                  <a:srgbClr val="262B36"/>
                </a:solidFill>
                <a:latin typeface="Calibri"/>
              </a:rPr>
              <a:t>· Prometheus · Loki · OpenCost</a:t>
            </a:r>
          </a:p>
          <a:p>
            <a:pPr algn="l">
              <a:spcAft>
                <a:spcPts val="400"/>
              </a:spcAft>
            </a:pPr>
            <a:r>
              <a:rPr sz="1200" b="0" i="0">
                <a:solidFill>
                  <a:srgbClr val="262B36"/>
                </a:solidFill>
                <a:latin typeface="Calibri"/>
              </a:rPr>
              <a:t>· SSM Parameter Store · ECR</a:t>
            </a:r>
          </a:p>
        </p:txBody>
      </p:sp>
      <p:sp>
        <p:nvSpPr>
          <p:cNvPr id="26" name="Rectangle 25"/>
          <p:cNvSpPr/>
          <p:nvPr/>
        </p:nvSpPr>
        <p:spPr>
          <a:xfrm>
            <a:off x="548640" y="5285232"/>
            <a:ext cx="3703320" cy="566928"/>
          </a:xfrm>
          <a:prstGeom prst="rect">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285232"/>
            <a:ext cx="3703320" cy="566928"/>
          </a:xfrm>
          <a:prstGeom prst="rect">
            <a:avLst/>
          </a:prstGeom>
          <a:noFill/>
        </p:spPr>
        <p:txBody>
          <a:bodyPr wrap="square" lIns="45720" rIns="45720" tIns="18288" bIns="18288" anchor="ctr">
            <a:spAutoFit/>
          </a:bodyPr>
          <a:lstStyle/>
          <a:p>
            <a:pPr algn="ctr">
              <a:spcAft>
                <a:spcPts val="400"/>
              </a:spcAft>
            </a:pPr>
            <a:r>
              <a:rPr sz="1400" b="1" i="0">
                <a:solidFill>
                  <a:srgbClr val="262B36"/>
                </a:solidFill>
                <a:latin typeface="Calibri"/>
              </a:rPr>
              <a:t>MongoDB Atlas  </a:t>
            </a:r>
            <a:r>
              <a:rPr sz="1200" b="0" i="0">
                <a:solidFill>
                  <a:srgbClr val="5F6778"/>
                </a:solidFill>
                <a:latin typeface="Calibri"/>
              </a:rPr>
              <a:t>own user + fixed IP per cloud</a:t>
            </a:r>
          </a:p>
        </p:txBody>
      </p:sp>
      <p:sp>
        <p:nvSpPr>
          <p:cNvPr id="28" name="Rectangle 27"/>
          <p:cNvSpPr/>
          <p:nvPr/>
        </p:nvSpPr>
        <p:spPr>
          <a:xfrm>
            <a:off x="4434840" y="5285232"/>
            <a:ext cx="3703320" cy="566928"/>
          </a:xfrm>
          <a:prstGeom prst="rect">
            <a:avLst/>
          </a:prstGeom>
          <a:solidFill>
            <a:srgbClr val="F5F7FA"/>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5285232"/>
            <a:ext cx="3703320" cy="566928"/>
          </a:xfrm>
          <a:prstGeom prst="rect">
            <a:avLst/>
          </a:prstGeom>
          <a:noFill/>
        </p:spPr>
        <p:txBody>
          <a:bodyPr wrap="square" lIns="45720" rIns="45720" tIns="18288" bIns="18288" anchor="ctr">
            <a:spAutoFit/>
          </a:bodyPr>
          <a:lstStyle/>
          <a:p>
            <a:pPr algn="ctr">
              <a:spcAft>
                <a:spcPts val="400"/>
              </a:spcAft>
            </a:pPr>
            <a:r>
              <a:rPr sz="1400" b="1" i="0">
                <a:solidFill>
                  <a:srgbClr val="262B36"/>
                </a:solidFill>
                <a:latin typeface="Calibri"/>
              </a:rPr>
              <a:t>Encrypted backups  </a:t>
            </a:r>
            <a:r>
              <a:rPr sz="1200" b="0" i="0">
                <a:solidFill>
                  <a:srgbClr val="5F6778"/>
                </a:solidFill>
                <a:latin typeface="Calibri"/>
              </a:rPr>
              <a:t>GCS · Azure Blob · S3</a:t>
            </a:r>
          </a:p>
        </p:txBody>
      </p:sp>
      <p:sp>
        <p:nvSpPr>
          <p:cNvPr id="30" name="TextBox 29"/>
          <p:cNvSpPr txBox="1"/>
          <p:nvPr/>
        </p:nvSpPr>
        <p:spPr>
          <a:xfrm>
            <a:off x="548640" y="5943600"/>
            <a:ext cx="7589520" cy="320040"/>
          </a:xfrm>
          <a:prstGeom prst="rect">
            <a:avLst/>
          </a:prstGeom>
          <a:noFill/>
        </p:spPr>
        <p:txBody>
          <a:bodyPr wrap="square" lIns="45720" rIns="45720" tIns="18288" bIns="18288" anchor="t">
            <a:spAutoFit/>
          </a:bodyPr>
          <a:lstStyle/>
          <a:p>
            <a:pPr algn="ctr">
              <a:spcAft>
                <a:spcPts val="400"/>
              </a:spcAft>
            </a:pPr>
            <a:r>
              <a:rPr sz="1200" b="0" i="0">
                <a:solidFill>
                  <a:srgbClr val="5F6778"/>
                </a:solidFill>
                <a:latin typeface="Calibri"/>
              </a:rPr>
              <a:t>Clouds never talk to each other — no VPN. Each has its own vault, registry and backups.</a:t>
            </a:r>
          </a:p>
        </p:txBody>
      </p:sp>
      <p:sp>
        <p:nvSpPr>
          <p:cNvPr id="31" name="TextBox 30"/>
          <p:cNvSpPr txBox="1"/>
          <p:nvPr/>
        </p:nvSpPr>
        <p:spPr>
          <a:xfrm>
            <a:off x="8503920" y="1417320"/>
            <a:ext cx="3291840" cy="4846320"/>
          </a:xfrm>
          <a:prstGeom prst="rect">
            <a:avLst/>
          </a:prstGeom>
          <a:noFill/>
        </p:spPr>
        <p:txBody>
          <a:bodyPr wrap="square" lIns="45720" rIns="45720" tIns="18288" bIns="18288" anchor="t">
            <a:spAutoFit/>
          </a:bodyPr>
          <a:lstStyle/>
          <a:p>
            <a:pPr algn="l">
              <a:spcAft>
                <a:spcPts val="1200"/>
              </a:spcAft>
            </a:pPr>
            <a:r>
              <a:rPr sz="1500" b="0" i="0">
                <a:solidFill>
                  <a:srgbClr val="1A73E8"/>
                </a:solidFill>
                <a:latin typeface="Calibri"/>
              </a:rPr>
              <a:t>▪ </a:t>
            </a:r>
            <a:r>
              <a:rPr sz="1500" b="1" i="0">
                <a:solidFill>
                  <a:srgbClr val="262B36"/>
                </a:solidFill>
                <a:latin typeface="Calibri"/>
              </a:rPr>
              <a:t>Primary: </a:t>
            </a:r>
            <a:r>
              <a:rPr sz="1500" b="0" i="0">
                <a:solidFill>
                  <a:srgbClr val="262B36"/>
                </a:solidFill>
                <a:latin typeface="Calibri"/>
              </a:rPr>
              <a:t>GKE (Mumbai) serves every shopper</a:t>
            </a:r>
          </a:p>
          <a:p>
            <a:pPr algn="l">
              <a:spcAft>
                <a:spcPts val="1200"/>
              </a:spcAft>
            </a:pPr>
            <a:r>
              <a:rPr sz="1500" b="0" i="0">
                <a:solidFill>
                  <a:srgbClr val="1A73E8"/>
                </a:solidFill>
                <a:latin typeface="Calibri"/>
              </a:rPr>
              <a:t>▪ </a:t>
            </a:r>
            <a:r>
              <a:rPr sz="1500" b="1" i="0">
                <a:solidFill>
                  <a:srgbClr val="262B36"/>
                </a:solidFill>
                <a:latin typeface="Calibri"/>
              </a:rPr>
              <a:t>Standbys: </a:t>
            </a:r>
            <a:r>
              <a:rPr sz="1500" b="0" i="0">
                <a:solidFill>
                  <a:srgbClr val="262B36"/>
                </a:solidFill>
                <a:latin typeface="Calibri"/>
              </a:rPr>
              <a:t>complete copies that sleep — like a stopped EC2 instance — and wake in minutes</a:t>
            </a:r>
          </a:p>
          <a:p>
            <a:pPr algn="l">
              <a:spcAft>
                <a:spcPts val="1200"/>
              </a:spcAft>
            </a:pPr>
            <a:r>
              <a:rPr sz="1500" b="0" i="0">
                <a:solidFill>
                  <a:srgbClr val="1A73E8"/>
                </a:solidFill>
                <a:latin typeface="Calibri"/>
              </a:rPr>
              <a:t>▪ </a:t>
            </a:r>
            <a:r>
              <a:rPr sz="1500" b="1" i="0">
                <a:solidFill>
                  <a:srgbClr val="262B36"/>
                </a:solidFill>
                <a:latin typeface="Calibri"/>
              </a:rPr>
              <a:t>Front door: </a:t>
            </a:r>
            <a:r>
              <a:rPr sz="1500" b="0" i="0">
                <a:solidFill>
                  <a:srgbClr val="262B36"/>
                </a:solidFill>
                <a:latin typeface="Calibri"/>
              </a:rPr>
              <a:t>first healthy cloud in the order gcp → azure → aws</a:t>
            </a:r>
          </a:p>
          <a:p>
            <a:pPr algn="l">
              <a:spcAft>
                <a:spcPts val="1200"/>
              </a:spcAft>
            </a:pPr>
            <a:r>
              <a:rPr sz="1500" b="0" i="0">
                <a:solidFill>
                  <a:srgbClr val="1A73E8"/>
                </a:solidFill>
                <a:latin typeface="Calibri"/>
              </a:rPr>
              <a:t>▪ </a:t>
            </a:r>
            <a:r>
              <a:rPr sz="1500" b="1" i="0">
                <a:solidFill>
                  <a:srgbClr val="262B36"/>
                </a:solidFill>
                <a:latin typeface="Calibri"/>
              </a:rPr>
              <a:t>6 services, 3 languages: </a:t>
            </a:r>
            <a:r>
              <a:rPr sz="1500" b="0" i="0">
                <a:solidFill>
                  <a:srgbClr val="262B36"/>
                </a:solidFill>
                <a:latin typeface="Calibri"/>
              </a:rPr>
              <a:t>React · Node.js · Java 21 · Python</a:t>
            </a:r>
          </a:p>
          <a:p>
            <a:pPr algn="l">
              <a:spcAft>
                <a:spcPts val="1200"/>
              </a:spcAft>
            </a:pPr>
            <a:r>
              <a:rPr sz="1500" b="0" i="0">
                <a:solidFill>
                  <a:srgbClr val="1A73E8"/>
                </a:solidFill>
                <a:latin typeface="Calibri"/>
              </a:rPr>
              <a:t>▪ </a:t>
            </a:r>
            <a:r>
              <a:rPr sz="1500" b="1" i="0">
                <a:solidFill>
                  <a:srgbClr val="262B36"/>
                </a:solidFill>
                <a:latin typeface="Calibri"/>
              </a:rPr>
              <a:t>Same everything: </a:t>
            </a:r>
            <a:r>
              <a:rPr sz="1500" b="0" i="0">
                <a:solidFill>
                  <a:srgbClr val="262B36"/>
                </a:solidFill>
                <a:latin typeface="Calibri"/>
              </a:rPr>
              <a:t>one Helm chart, one image, one monitoring module in all clouds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WHAT IT IS BUILT WITH</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Technology stack</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4</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27048"/>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Application</a:t>
            </a:r>
          </a:p>
        </p:txBody>
      </p:sp>
      <p:sp>
        <p:nvSpPr>
          <p:cNvPr id="10" name="TextBox 9"/>
          <p:cNvSpPr txBox="1"/>
          <p:nvPr/>
        </p:nvSpPr>
        <p:spPr>
          <a:xfrm>
            <a:off x="749808" y="1920240"/>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React · Node.js gateway, catalog, notification · Java 21 Spring Boot identity · Python Flask commerce</a:t>
            </a:r>
          </a:p>
        </p:txBody>
      </p:sp>
      <p:sp>
        <p:nvSpPr>
          <p:cNvPr id="11" name="Rectangle 10"/>
          <p:cNvSpPr/>
          <p:nvPr/>
        </p:nvSpPr>
        <p:spPr>
          <a:xfrm>
            <a:off x="6172200" y="1417320"/>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17320"/>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527048"/>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Infrastructure as code</a:t>
            </a:r>
          </a:p>
        </p:txBody>
      </p:sp>
      <p:sp>
        <p:nvSpPr>
          <p:cNvPr id="14" name="TextBox 13"/>
          <p:cNvSpPr txBox="1"/>
          <p:nvPr/>
        </p:nvSpPr>
        <p:spPr>
          <a:xfrm>
            <a:off x="6373368" y="1920240"/>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Terraform 1.16 — 13 stacks: bootstrap, foundation, cluster, add-ons per cloud + global</a:t>
            </a:r>
          </a:p>
        </p:txBody>
      </p:sp>
      <p:sp>
        <p:nvSpPr>
          <p:cNvPr id="15" name="Rectangle 14"/>
          <p:cNvSpPr/>
          <p:nvPr/>
        </p:nvSpPr>
        <p:spPr>
          <a:xfrm>
            <a:off x="548640" y="2624328"/>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24328"/>
            <a:ext cx="73152" cy="107899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2734056"/>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Kubernetes</a:t>
            </a:r>
          </a:p>
        </p:txBody>
      </p:sp>
      <p:sp>
        <p:nvSpPr>
          <p:cNvPr id="18" name="TextBox 17"/>
          <p:cNvSpPr txBox="1"/>
          <p:nvPr/>
        </p:nvSpPr>
        <p:spPr>
          <a:xfrm>
            <a:off x="749808" y="3127248"/>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GKE · AKS · EKS, one Helm chart for all services, Envoy Gateway (Gateway API)</a:t>
            </a:r>
          </a:p>
        </p:txBody>
      </p:sp>
      <p:sp>
        <p:nvSpPr>
          <p:cNvPr id="19" name="Rectangle 18"/>
          <p:cNvSpPr/>
          <p:nvPr/>
        </p:nvSpPr>
        <p:spPr>
          <a:xfrm>
            <a:off x="6172200" y="2624328"/>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2624328"/>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73368" y="2734056"/>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Global traffic</a:t>
            </a:r>
          </a:p>
        </p:txBody>
      </p:sp>
      <p:sp>
        <p:nvSpPr>
          <p:cNvPr id="22" name="TextBox 21"/>
          <p:cNvSpPr txBox="1"/>
          <p:nvPr/>
        </p:nvSpPr>
        <p:spPr>
          <a:xfrm>
            <a:off x="6373368" y="3127248"/>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Cloudflare DNS, TLS Full (strict), Load Balancer, Zero Trust Access, Worker</a:t>
            </a:r>
          </a:p>
        </p:txBody>
      </p:sp>
      <p:sp>
        <p:nvSpPr>
          <p:cNvPr id="23" name="Rectangle 22"/>
          <p:cNvSpPr/>
          <p:nvPr/>
        </p:nvSpPr>
        <p:spPr>
          <a:xfrm>
            <a:off x="548640" y="3831336"/>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831336"/>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941064"/>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Secrets</a:t>
            </a:r>
          </a:p>
        </p:txBody>
      </p:sp>
      <p:sp>
        <p:nvSpPr>
          <p:cNvPr id="26" name="TextBox 25"/>
          <p:cNvSpPr txBox="1"/>
          <p:nvPr/>
        </p:nvSpPr>
        <p:spPr>
          <a:xfrm>
            <a:off x="749808" y="4334256"/>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Secret Manager · Key Vault · SSM Parameter Store via External Secrets + workload identity</a:t>
            </a:r>
          </a:p>
        </p:txBody>
      </p:sp>
      <p:sp>
        <p:nvSpPr>
          <p:cNvPr id="27" name="Rectangle 26"/>
          <p:cNvSpPr/>
          <p:nvPr/>
        </p:nvSpPr>
        <p:spPr>
          <a:xfrm>
            <a:off x="6172200" y="3831336"/>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3831336"/>
            <a:ext cx="73152" cy="107899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3368" y="3941064"/>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CI / CD</a:t>
            </a:r>
          </a:p>
        </p:txBody>
      </p:sp>
      <p:sp>
        <p:nvSpPr>
          <p:cNvPr id="30" name="TextBox 29"/>
          <p:cNvSpPr txBox="1"/>
          <p:nvPr/>
        </p:nvSpPr>
        <p:spPr>
          <a:xfrm>
            <a:off x="6373368" y="4334256"/>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GitHub Actions reusable workflows, Trivy, gitleaks, OIDC → Jenkins in GKE</a:t>
            </a:r>
          </a:p>
        </p:txBody>
      </p:sp>
      <p:sp>
        <p:nvSpPr>
          <p:cNvPr id="31" name="Rectangle 30"/>
          <p:cNvSpPr/>
          <p:nvPr/>
        </p:nvSpPr>
        <p:spPr>
          <a:xfrm>
            <a:off x="548640" y="5038344"/>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038344"/>
            <a:ext cx="73152" cy="107899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5148072"/>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Observability</a:t>
            </a:r>
          </a:p>
        </p:txBody>
      </p:sp>
      <p:sp>
        <p:nvSpPr>
          <p:cNvPr id="34" name="TextBox 33"/>
          <p:cNvSpPr txBox="1"/>
          <p:nvPr/>
        </p:nvSpPr>
        <p:spPr>
          <a:xfrm>
            <a:off x="749808" y="5541264"/>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Prometheus, Alertmanager, Loki, Alloy, OpenCost, central Grafana, Slack</a:t>
            </a:r>
          </a:p>
        </p:txBody>
      </p:sp>
      <p:sp>
        <p:nvSpPr>
          <p:cNvPr id="35" name="Rectangle 34"/>
          <p:cNvSpPr/>
          <p:nvPr/>
        </p:nvSpPr>
        <p:spPr>
          <a:xfrm>
            <a:off x="6172200" y="5038344"/>
            <a:ext cx="5440680" cy="1078992"/>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72200" y="5038344"/>
            <a:ext cx="73152" cy="107899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3368" y="5148072"/>
            <a:ext cx="5120640" cy="411480"/>
          </a:xfrm>
          <a:prstGeom prst="rect">
            <a:avLst/>
          </a:prstGeom>
          <a:noFill/>
        </p:spPr>
        <p:txBody>
          <a:bodyPr wrap="square" lIns="45720" rIns="45720" tIns="18288" bIns="18288" anchor="t">
            <a:spAutoFit/>
          </a:bodyPr>
          <a:lstStyle/>
          <a:p>
            <a:pPr algn="l">
              <a:spcAft>
                <a:spcPts val="400"/>
              </a:spcAft>
            </a:pPr>
            <a:r>
              <a:rPr sz="1600" b="1" i="0">
                <a:solidFill>
                  <a:srgbClr val="142447"/>
                </a:solidFill>
                <a:latin typeface="Calibri"/>
              </a:rPr>
              <a:t>Automation &amp; DR</a:t>
            </a:r>
          </a:p>
        </p:txBody>
      </p:sp>
      <p:sp>
        <p:nvSpPr>
          <p:cNvPr id="38" name="TextBox 37"/>
          <p:cNvSpPr txBox="1"/>
          <p:nvPr/>
        </p:nvSpPr>
        <p:spPr>
          <a:xfrm>
            <a:off x="6373368" y="5541264"/>
            <a:ext cx="5120640" cy="530352"/>
          </a:xfrm>
          <a:prstGeom prst="rect">
            <a:avLst/>
          </a:prstGeom>
          <a:noFill/>
        </p:spPr>
        <p:txBody>
          <a:bodyPr wrap="square" lIns="45720" rIns="45720" tIns="18288" bIns="18288" anchor="t">
            <a:spAutoFit/>
          </a:bodyPr>
          <a:lstStyle/>
          <a:p>
            <a:pPr algn="l">
              <a:spcAft>
                <a:spcPts val="400"/>
              </a:spcAft>
            </a:pPr>
            <a:r>
              <a:rPr sz="1300" b="0" i="0">
                <a:solidFill>
                  <a:srgbClr val="262B36"/>
                </a:solidFill>
                <a:latin typeface="Calibri"/>
              </a:rPr>
              <a:t>Ansible session playbooks · mongodump + age → GCS, S3, Azure Blob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INFRASTRUCTURE AS CODE + AUTOMATION</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Everything is code — and a session is one command</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5</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63040"/>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1463040" cy="731520"/>
          </a:xfrm>
          <a:prstGeom prst="rect">
            <a:avLst/>
          </a:prstGeom>
          <a:solidFill>
            <a:srgbClr val="5F6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1463040" cy="731520"/>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bootstrap</a:t>
            </a:r>
          </a:p>
        </p:txBody>
      </p:sp>
      <p:sp>
        <p:nvSpPr>
          <p:cNvPr id="10" name="TextBox 9"/>
          <p:cNvSpPr txBox="1"/>
          <p:nvPr/>
        </p:nvSpPr>
        <p:spPr>
          <a:xfrm>
            <a:off x="2148840" y="1508760"/>
            <a:ext cx="3108960" cy="685800"/>
          </a:xfrm>
          <a:prstGeom prst="rect">
            <a:avLst/>
          </a:prstGeom>
          <a:noFill/>
        </p:spPr>
        <p:txBody>
          <a:bodyPr wrap="square" lIns="45720" rIns="45720" tIns="18288" bIns="18288" anchor="ctr">
            <a:spAutoFit/>
          </a:bodyPr>
          <a:lstStyle/>
          <a:p>
            <a:pPr algn="l">
              <a:spcAft>
                <a:spcPts val="400"/>
              </a:spcAft>
            </a:pPr>
            <a:r>
              <a:rPr sz="1300" b="0" i="0">
                <a:solidFill>
                  <a:srgbClr val="262B36"/>
                </a:solidFill>
                <a:latin typeface="Calibri"/>
              </a:rPr>
              <a:t>state bucket · GitHub OIDC trust · budget</a:t>
            </a:r>
          </a:p>
        </p:txBody>
      </p:sp>
      <p:sp>
        <p:nvSpPr>
          <p:cNvPr id="11" name="TextBox 10"/>
          <p:cNvSpPr txBox="1"/>
          <p:nvPr/>
        </p:nvSpPr>
        <p:spPr>
          <a:xfrm>
            <a:off x="5257800" y="1463040"/>
            <a:ext cx="1097280" cy="731520"/>
          </a:xfrm>
          <a:prstGeom prst="rect">
            <a:avLst/>
          </a:prstGeom>
          <a:noFill/>
        </p:spPr>
        <p:txBody>
          <a:bodyPr wrap="square" lIns="45720" rIns="45720" tIns="18288" bIns="18288" anchor="ctr">
            <a:spAutoFit/>
          </a:bodyPr>
          <a:lstStyle/>
          <a:p>
            <a:pPr algn="r">
              <a:spcAft>
                <a:spcPts val="400"/>
              </a:spcAft>
            </a:pPr>
            <a:r>
              <a:rPr sz="1200" b="1" i="0">
                <a:solidFill>
                  <a:srgbClr val="5F6778"/>
                </a:solidFill>
                <a:latin typeface="Calibri"/>
              </a:rPr>
              <a:t>once</a:t>
            </a:r>
          </a:p>
        </p:txBody>
      </p:sp>
      <p:sp>
        <p:nvSpPr>
          <p:cNvPr id="12" name="Rectangle 11"/>
          <p:cNvSpPr/>
          <p:nvPr/>
        </p:nvSpPr>
        <p:spPr>
          <a:xfrm>
            <a:off x="548640" y="2304288"/>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04288"/>
            <a:ext cx="1463040" cy="7315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04288"/>
            <a:ext cx="1463040" cy="731520"/>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foundation</a:t>
            </a:r>
          </a:p>
        </p:txBody>
      </p:sp>
      <p:sp>
        <p:nvSpPr>
          <p:cNvPr id="15" name="TextBox 14"/>
          <p:cNvSpPr txBox="1"/>
          <p:nvPr/>
        </p:nvSpPr>
        <p:spPr>
          <a:xfrm>
            <a:off x="2148840" y="2350008"/>
            <a:ext cx="3108960" cy="685800"/>
          </a:xfrm>
          <a:prstGeom prst="rect">
            <a:avLst/>
          </a:prstGeom>
          <a:noFill/>
        </p:spPr>
        <p:txBody>
          <a:bodyPr wrap="square" lIns="45720" rIns="45720" tIns="18288" bIns="18288" anchor="ctr">
            <a:spAutoFit/>
          </a:bodyPr>
          <a:lstStyle/>
          <a:p>
            <a:pPr algn="l">
              <a:spcAft>
                <a:spcPts val="400"/>
              </a:spcAft>
            </a:pPr>
            <a:r>
              <a:rPr sz="1300" b="0" i="0">
                <a:solidFill>
                  <a:srgbClr val="262B36"/>
                </a:solidFill>
                <a:latin typeface="Calibri"/>
              </a:rPr>
              <a:t>registry · vault · backup bucket · identities · GKE egress IP</a:t>
            </a:r>
          </a:p>
        </p:txBody>
      </p:sp>
      <p:sp>
        <p:nvSpPr>
          <p:cNvPr id="16" name="TextBox 15"/>
          <p:cNvSpPr txBox="1"/>
          <p:nvPr/>
        </p:nvSpPr>
        <p:spPr>
          <a:xfrm>
            <a:off x="5257800" y="2304288"/>
            <a:ext cx="1097280" cy="731520"/>
          </a:xfrm>
          <a:prstGeom prst="rect">
            <a:avLst/>
          </a:prstGeom>
          <a:noFill/>
        </p:spPr>
        <p:txBody>
          <a:bodyPr wrap="square" lIns="45720" rIns="45720" tIns="18288" bIns="18288" anchor="ctr">
            <a:spAutoFit/>
          </a:bodyPr>
          <a:lstStyle/>
          <a:p>
            <a:pPr algn="r">
              <a:spcAft>
                <a:spcPts val="400"/>
              </a:spcAft>
            </a:pPr>
            <a:r>
              <a:rPr sz="1200" b="1" i="0">
                <a:solidFill>
                  <a:srgbClr val="1E8E3E"/>
                </a:solidFill>
                <a:latin typeface="Calibri"/>
              </a:rPr>
              <a:t>permanent</a:t>
            </a:r>
          </a:p>
        </p:txBody>
      </p:sp>
      <p:sp>
        <p:nvSpPr>
          <p:cNvPr id="17" name="Rectangle 16"/>
          <p:cNvSpPr/>
          <p:nvPr/>
        </p:nvSpPr>
        <p:spPr>
          <a:xfrm>
            <a:off x="548640" y="3145536"/>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45536"/>
            <a:ext cx="1463040" cy="73152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145536"/>
            <a:ext cx="1463040" cy="731520"/>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cluster</a:t>
            </a:r>
          </a:p>
        </p:txBody>
      </p:sp>
      <p:sp>
        <p:nvSpPr>
          <p:cNvPr id="20" name="TextBox 19"/>
          <p:cNvSpPr txBox="1"/>
          <p:nvPr/>
        </p:nvSpPr>
        <p:spPr>
          <a:xfrm>
            <a:off x="2148840" y="3191256"/>
            <a:ext cx="3108960" cy="685800"/>
          </a:xfrm>
          <a:prstGeom prst="rect">
            <a:avLst/>
          </a:prstGeom>
          <a:noFill/>
        </p:spPr>
        <p:txBody>
          <a:bodyPr wrap="square" lIns="45720" rIns="45720" tIns="18288" bIns="18288" anchor="ctr">
            <a:spAutoFit/>
          </a:bodyPr>
          <a:lstStyle/>
          <a:p>
            <a:pPr algn="l">
              <a:spcAft>
                <a:spcPts val="400"/>
              </a:spcAft>
            </a:pPr>
            <a:r>
              <a:rPr sz="1300" b="0" i="0">
                <a:solidFill>
                  <a:srgbClr val="262B36"/>
                </a:solidFill>
                <a:latin typeface="Calibri"/>
              </a:rPr>
              <a:t>network · NAT · Kubernetes · node pool</a:t>
            </a:r>
          </a:p>
        </p:txBody>
      </p:sp>
      <p:sp>
        <p:nvSpPr>
          <p:cNvPr id="21" name="TextBox 20"/>
          <p:cNvSpPr txBox="1"/>
          <p:nvPr/>
        </p:nvSpPr>
        <p:spPr>
          <a:xfrm>
            <a:off x="5257800" y="3145536"/>
            <a:ext cx="1097280" cy="731520"/>
          </a:xfrm>
          <a:prstGeom prst="rect">
            <a:avLst/>
          </a:prstGeom>
          <a:noFill/>
        </p:spPr>
        <p:txBody>
          <a:bodyPr wrap="square" lIns="45720" rIns="45720" tIns="18288" bIns="18288" anchor="ctr">
            <a:spAutoFit/>
          </a:bodyPr>
          <a:lstStyle/>
          <a:p>
            <a:pPr algn="r">
              <a:spcAft>
                <a:spcPts val="400"/>
              </a:spcAft>
            </a:pPr>
            <a:r>
              <a:rPr sz="1200" b="1" i="0">
                <a:solidFill>
                  <a:srgbClr val="1A73E8"/>
                </a:solidFill>
                <a:latin typeface="Calibri"/>
              </a:rPr>
              <a:t>per session</a:t>
            </a:r>
          </a:p>
        </p:txBody>
      </p:sp>
      <p:sp>
        <p:nvSpPr>
          <p:cNvPr id="22" name="Rectangle 21"/>
          <p:cNvSpPr/>
          <p:nvPr/>
        </p:nvSpPr>
        <p:spPr>
          <a:xfrm>
            <a:off x="548640" y="3986784"/>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986784"/>
            <a:ext cx="1463040" cy="731520"/>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986784"/>
            <a:ext cx="1463040" cy="731520"/>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add-ons</a:t>
            </a:r>
          </a:p>
        </p:txBody>
      </p:sp>
      <p:sp>
        <p:nvSpPr>
          <p:cNvPr id="25" name="TextBox 24"/>
          <p:cNvSpPr txBox="1"/>
          <p:nvPr/>
        </p:nvSpPr>
        <p:spPr>
          <a:xfrm>
            <a:off x="2148840" y="4032504"/>
            <a:ext cx="3108960" cy="685800"/>
          </a:xfrm>
          <a:prstGeom prst="rect">
            <a:avLst/>
          </a:prstGeom>
          <a:noFill/>
        </p:spPr>
        <p:txBody>
          <a:bodyPr wrap="square" lIns="45720" rIns="45720" tIns="18288" bIns="18288" anchor="ctr">
            <a:spAutoFit/>
          </a:bodyPr>
          <a:lstStyle/>
          <a:p>
            <a:pPr algn="l">
              <a:spcAft>
                <a:spcPts val="400"/>
              </a:spcAft>
            </a:pPr>
            <a:r>
              <a:rPr sz="1300" b="0" i="0">
                <a:solidFill>
                  <a:srgbClr val="262B36"/>
                </a:solidFill>
                <a:latin typeface="Calibri"/>
              </a:rPr>
              <a:t>Envoy · External Secrets · monitoring · Jenkins</a:t>
            </a:r>
          </a:p>
        </p:txBody>
      </p:sp>
      <p:sp>
        <p:nvSpPr>
          <p:cNvPr id="26" name="TextBox 25"/>
          <p:cNvSpPr txBox="1"/>
          <p:nvPr/>
        </p:nvSpPr>
        <p:spPr>
          <a:xfrm>
            <a:off x="5257800" y="3986784"/>
            <a:ext cx="1097280" cy="731520"/>
          </a:xfrm>
          <a:prstGeom prst="rect">
            <a:avLst/>
          </a:prstGeom>
          <a:noFill/>
        </p:spPr>
        <p:txBody>
          <a:bodyPr wrap="square" lIns="45720" rIns="45720" tIns="18288" bIns="18288" anchor="ctr">
            <a:spAutoFit/>
          </a:bodyPr>
          <a:lstStyle/>
          <a:p>
            <a:pPr algn="r">
              <a:spcAft>
                <a:spcPts val="400"/>
              </a:spcAft>
            </a:pPr>
            <a:r>
              <a:rPr sz="1200" b="1" i="0">
                <a:solidFill>
                  <a:srgbClr val="008AD7"/>
                </a:solidFill>
                <a:latin typeface="Calibri"/>
              </a:rPr>
              <a:t>per session</a:t>
            </a:r>
          </a:p>
        </p:txBody>
      </p:sp>
      <p:sp>
        <p:nvSpPr>
          <p:cNvPr id="27" name="Rectangle 26"/>
          <p:cNvSpPr/>
          <p:nvPr/>
        </p:nvSpPr>
        <p:spPr>
          <a:xfrm>
            <a:off x="548640" y="4828032"/>
            <a:ext cx="5852160" cy="73152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828032"/>
            <a:ext cx="1463040" cy="7315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828032"/>
            <a:ext cx="1463040" cy="731520"/>
          </a:xfrm>
          <a:prstGeom prst="rect">
            <a:avLst/>
          </a:prstGeom>
          <a:noFill/>
        </p:spPr>
        <p:txBody>
          <a:bodyPr wrap="square" lIns="45720" rIns="45720" tIns="18288" bIns="18288" anchor="ctr">
            <a:spAutoFit/>
          </a:bodyPr>
          <a:lstStyle/>
          <a:p>
            <a:pPr algn="ctr">
              <a:spcAft>
                <a:spcPts val="400"/>
              </a:spcAft>
            </a:pPr>
            <a:r>
              <a:rPr sz="1600" b="1" i="0">
                <a:solidFill>
                  <a:srgbClr val="FFFFFF"/>
                </a:solidFill>
                <a:latin typeface="Calibri"/>
              </a:rPr>
              <a:t>global</a:t>
            </a:r>
          </a:p>
        </p:txBody>
      </p:sp>
      <p:sp>
        <p:nvSpPr>
          <p:cNvPr id="30" name="TextBox 29"/>
          <p:cNvSpPr txBox="1"/>
          <p:nvPr/>
        </p:nvSpPr>
        <p:spPr>
          <a:xfrm>
            <a:off x="2148840" y="4873752"/>
            <a:ext cx="3108960" cy="685800"/>
          </a:xfrm>
          <a:prstGeom prst="rect">
            <a:avLst/>
          </a:prstGeom>
          <a:noFill/>
        </p:spPr>
        <p:txBody>
          <a:bodyPr wrap="square" lIns="45720" rIns="45720" tIns="18288" bIns="18288" anchor="ctr">
            <a:spAutoFit/>
          </a:bodyPr>
          <a:lstStyle/>
          <a:p>
            <a:pPr algn="l">
              <a:spcAft>
                <a:spcPts val="400"/>
              </a:spcAft>
            </a:pPr>
            <a:r>
              <a:rPr sz="1300" b="0" i="0">
                <a:solidFill>
                  <a:srgbClr val="262B36"/>
                </a:solidFill>
                <a:latin typeface="Calibri"/>
              </a:rPr>
              <a:t>Cloudflare DNS/LB/Access · Atlas users · shared secrets</a:t>
            </a:r>
          </a:p>
        </p:txBody>
      </p:sp>
      <p:sp>
        <p:nvSpPr>
          <p:cNvPr id="31" name="TextBox 30"/>
          <p:cNvSpPr txBox="1"/>
          <p:nvPr/>
        </p:nvSpPr>
        <p:spPr>
          <a:xfrm>
            <a:off x="5257800" y="4828032"/>
            <a:ext cx="1097280" cy="731520"/>
          </a:xfrm>
          <a:prstGeom prst="rect">
            <a:avLst/>
          </a:prstGeom>
          <a:noFill/>
        </p:spPr>
        <p:txBody>
          <a:bodyPr wrap="square" lIns="45720" rIns="45720" tIns="18288" bIns="18288" anchor="ctr">
            <a:spAutoFit/>
          </a:bodyPr>
          <a:lstStyle/>
          <a:p>
            <a:pPr algn="r">
              <a:spcAft>
                <a:spcPts val="400"/>
              </a:spcAft>
            </a:pPr>
            <a:r>
              <a:rPr sz="1200" b="1" i="0">
                <a:solidFill>
                  <a:srgbClr val="FF9900"/>
                </a:solidFill>
                <a:latin typeface="Calibri"/>
              </a:rPr>
              <a:t>per session</a:t>
            </a:r>
          </a:p>
        </p:txBody>
      </p:sp>
      <p:sp>
        <p:nvSpPr>
          <p:cNvPr id="32" name="Rectangle 31"/>
          <p:cNvSpPr/>
          <p:nvPr/>
        </p:nvSpPr>
        <p:spPr>
          <a:xfrm>
            <a:off x="6766560" y="146304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66560" y="1463040"/>
            <a:ext cx="91440" cy="457200"/>
          </a:xfrm>
          <a:prstGeom prst="rect">
            <a:avLst/>
          </a:prstGeom>
          <a:solidFill>
            <a:srgbClr val="5F67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1463040"/>
            <a:ext cx="457200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1  preflight   </a:t>
            </a:r>
            <a:r>
              <a:rPr sz="1300" b="0" i="0">
                <a:solidFill>
                  <a:srgbClr val="5F6778"/>
                </a:solidFill>
                <a:latin typeface="Calibri"/>
              </a:rPr>
              <a:t>tools · logins · IP</a:t>
            </a:r>
          </a:p>
        </p:txBody>
      </p:sp>
      <p:sp>
        <p:nvSpPr>
          <p:cNvPr id="35" name="Rectangle 34"/>
          <p:cNvSpPr/>
          <p:nvPr/>
        </p:nvSpPr>
        <p:spPr>
          <a:xfrm>
            <a:off x="6766560" y="201168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66560" y="2011680"/>
            <a:ext cx="91440" cy="45720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2011680"/>
            <a:ext cx="457200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2  GKE · AKS · EKS   </a:t>
            </a:r>
            <a:r>
              <a:rPr sz="1300" b="0" i="0">
                <a:solidFill>
                  <a:srgbClr val="5F6778"/>
                </a:solidFill>
                <a:latin typeface="Calibri"/>
              </a:rPr>
              <a:t>in parallel</a:t>
            </a:r>
          </a:p>
        </p:txBody>
      </p:sp>
      <p:sp>
        <p:nvSpPr>
          <p:cNvPr id="38" name="Rectangle 37"/>
          <p:cNvSpPr/>
          <p:nvPr/>
        </p:nvSpPr>
        <p:spPr>
          <a:xfrm>
            <a:off x="6766560" y="256032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766560" y="2560320"/>
            <a:ext cx="91440" cy="4572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9440" y="2560320"/>
            <a:ext cx="457200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3  global   </a:t>
            </a:r>
            <a:r>
              <a:rPr sz="1300" b="0" i="0">
                <a:solidFill>
                  <a:srgbClr val="5F6778"/>
                </a:solidFill>
                <a:latin typeface="Calibri"/>
              </a:rPr>
              <a:t>DNS · LB · Atlas</a:t>
            </a:r>
          </a:p>
        </p:txBody>
      </p:sp>
      <p:sp>
        <p:nvSpPr>
          <p:cNvPr id="41" name="Rectangle 40"/>
          <p:cNvSpPr/>
          <p:nvPr/>
        </p:nvSpPr>
        <p:spPr>
          <a:xfrm>
            <a:off x="6766560" y="3108960"/>
            <a:ext cx="4846320" cy="457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766560" y="3108960"/>
            <a:ext cx="91440" cy="45720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0" y="3108960"/>
            <a:ext cx="457200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4  per cloud   </a:t>
            </a:r>
            <a:r>
              <a:rPr sz="1300" b="0" i="0">
                <a:solidFill>
                  <a:srgbClr val="5F6778"/>
                </a:solidFill>
                <a:latin typeface="Calibri"/>
              </a:rPr>
              <a:t>add-ons → shop → health</a:t>
            </a:r>
          </a:p>
        </p:txBody>
      </p:sp>
      <p:sp>
        <p:nvSpPr>
          <p:cNvPr id="44" name="TextBox 43"/>
          <p:cNvSpPr txBox="1"/>
          <p:nvPr/>
        </p:nvSpPr>
        <p:spPr>
          <a:xfrm>
            <a:off x="6766560" y="3749039"/>
            <a:ext cx="2377440" cy="640080"/>
          </a:xfrm>
          <a:prstGeom prst="rect">
            <a:avLst/>
          </a:prstGeom>
          <a:noFill/>
        </p:spPr>
        <p:txBody>
          <a:bodyPr wrap="square" lIns="45720" rIns="45720" tIns="18288" bIns="18288" anchor="t">
            <a:spAutoFit/>
          </a:bodyPr>
          <a:lstStyle/>
          <a:p>
            <a:pPr algn="l">
              <a:spcAft>
                <a:spcPts val="400"/>
              </a:spcAft>
            </a:pPr>
            <a:r>
              <a:rPr sz="2800" b="1" i="0">
                <a:solidFill>
                  <a:srgbClr val="142447"/>
                </a:solidFill>
                <a:latin typeface="Calibri"/>
              </a:rPr>
              <a:t>1 command</a:t>
            </a:r>
          </a:p>
        </p:txBody>
      </p:sp>
      <p:sp>
        <p:nvSpPr>
          <p:cNvPr id="45" name="TextBox 44"/>
          <p:cNvSpPr txBox="1"/>
          <p:nvPr/>
        </p:nvSpPr>
        <p:spPr>
          <a:xfrm>
            <a:off x="6766560" y="4407407"/>
            <a:ext cx="237744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ansible-playbook up.yml / down.yml</a:t>
            </a:r>
          </a:p>
        </p:txBody>
      </p:sp>
      <p:sp>
        <p:nvSpPr>
          <p:cNvPr id="46" name="TextBox 45"/>
          <p:cNvSpPr txBox="1"/>
          <p:nvPr/>
        </p:nvSpPr>
        <p:spPr>
          <a:xfrm>
            <a:off x="9235440" y="3749039"/>
            <a:ext cx="2377440" cy="640080"/>
          </a:xfrm>
          <a:prstGeom prst="rect">
            <a:avLst/>
          </a:prstGeom>
          <a:noFill/>
        </p:spPr>
        <p:txBody>
          <a:bodyPr wrap="square" lIns="45720" rIns="45720" tIns="18288" bIns="18288" anchor="t">
            <a:spAutoFit/>
          </a:bodyPr>
          <a:lstStyle/>
          <a:p>
            <a:pPr algn="l">
              <a:spcAft>
                <a:spcPts val="400"/>
              </a:spcAft>
            </a:pPr>
            <a:r>
              <a:rPr sz="2800" b="1" i="0">
                <a:solidFill>
                  <a:srgbClr val="1E8E3E"/>
                </a:solidFill>
                <a:latin typeface="Calibri"/>
              </a:rPr>
              <a:t>13 stacks</a:t>
            </a:r>
          </a:p>
        </p:txBody>
      </p:sp>
      <p:sp>
        <p:nvSpPr>
          <p:cNvPr id="47" name="TextBox 46"/>
          <p:cNvSpPr txBox="1"/>
          <p:nvPr/>
        </p:nvSpPr>
        <p:spPr>
          <a:xfrm>
            <a:off x="9235440" y="4407407"/>
            <a:ext cx="237744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each with its own versioned remote state</a:t>
            </a:r>
          </a:p>
        </p:txBody>
      </p:sp>
      <p:sp>
        <p:nvSpPr>
          <p:cNvPr id="48" name="TextBox 47"/>
          <p:cNvSpPr txBox="1"/>
          <p:nvPr/>
        </p:nvSpPr>
        <p:spPr>
          <a:xfrm>
            <a:off x="6766560" y="4800600"/>
            <a:ext cx="4937760" cy="1554480"/>
          </a:xfrm>
          <a:prstGeom prst="rect">
            <a:avLst/>
          </a:prstGeom>
          <a:noFill/>
        </p:spPr>
        <p:txBody>
          <a:bodyPr wrap="square" lIns="45720" rIns="45720" tIns="18288" bIns="18288" anchor="t">
            <a:spAutoFit/>
          </a:bodyPr>
          <a:lstStyle/>
          <a:p>
            <a:pPr algn="l">
              <a:spcAft>
                <a:spcPts val="800"/>
              </a:spcAft>
            </a:pPr>
            <a:r>
              <a:rPr sz="1400" b="0" i="0">
                <a:solidFill>
                  <a:srgbClr val="1A73E8"/>
                </a:solidFill>
                <a:latin typeface="Calibri"/>
              </a:rPr>
              <a:t>▪ </a:t>
            </a:r>
            <a:r>
              <a:rPr sz="1400" b="1" i="0">
                <a:solidFill>
                  <a:srgbClr val="262B36"/>
                </a:solidFill>
                <a:latin typeface="Calibri"/>
              </a:rPr>
              <a:t>Guarded: </a:t>
            </a:r>
            <a:r>
              <a:rPr sz="1400" b="0" i="0">
                <a:solidFill>
                  <a:srgbClr val="262B36"/>
                </a:solidFill>
                <a:latin typeface="Calibri"/>
              </a:rPr>
              <a:t>session start may only create/update, teardown only delete</a:t>
            </a:r>
          </a:p>
          <a:p>
            <a:pPr algn="l">
              <a:spcAft>
                <a:spcPts val="800"/>
              </a:spcAft>
            </a:pPr>
            <a:r>
              <a:rPr sz="1400" b="0" i="0">
                <a:solidFill>
                  <a:srgbClr val="1A73E8"/>
                </a:solidFill>
                <a:latin typeface="Calibri"/>
              </a:rPr>
              <a:t>▪ </a:t>
            </a:r>
            <a:r>
              <a:rPr sz="1400" b="1" i="0">
                <a:solidFill>
                  <a:srgbClr val="262B36"/>
                </a:solidFill>
                <a:latin typeface="Calibri"/>
              </a:rPr>
              <a:t>Safe teardown: </a:t>
            </a:r>
            <a:r>
              <a:rPr sz="1400" b="0" i="0">
                <a:solidFill>
                  <a:srgbClr val="262B36"/>
                </a:solidFill>
                <a:latin typeface="Calibri"/>
              </a:rPr>
              <a:t>stops if a load balancer or disk would be orphaned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SECURITY &amp; LEAST PRIVILEGE</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Keyless by design — no stored cloud credentials</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6</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graphicFrame>
        <p:nvGraphicFramePr>
          <p:cNvPr id="7" name="Table 6"/>
          <p:cNvGraphicFramePr>
            <a:graphicFrameLocks noGrp="1"/>
          </p:cNvGraphicFramePr>
          <p:nvPr/>
        </p:nvGraphicFramePr>
        <p:xfrm>
          <a:off x="548640" y="1463040"/>
          <a:ext cx="6949440" cy="4023360"/>
        </p:xfrm>
        <a:graphic>
          <a:graphicData uri="http://schemas.openxmlformats.org/drawingml/2006/table">
            <a:tbl>
              <a:tblPr firstRow="1" bandRow="1">
                <a:tableStyleId>{5C22544A-7EE6-4342-B048-85BDC9FD1C3A}</a:tableStyleId>
              </a:tblPr>
              <a:tblGrid>
                <a:gridCol w="2011680"/>
                <a:gridCol w="2377440"/>
                <a:gridCol w="2560320"/>
              </a:tblGrid>
              <a:tr h="574765">
                <a:tc>
                  <a:txBody>
                    <a:bodyPr/>
                    <a:lstStyle/>
                    <a:p>
                      <a:r>
                        <a:rPr sz="1300" b="1">
                          <a:solidFill>
                            <a:srgbClr val="FFFFFF"/>
                          </a:solidFill>
                          <a:latin typeface="Calibri"/>
                        </a:rPr>
                        <a:t>Who</a:t>
                      </a:r>
                    </a:p>
                  </a:txBody>
                  <a:tcPr>
                    <a:solidFill>
                      <a:srgbClr val="142447"/>
                    </a:solidFill>
                  </a:tcPr>
                </a:tc>
                <a:tc>
                  <a:txBody>
                    <a:bodyPr/>
                    <a:lstStyle/>
                    <a:p>
                      <a:r>
                        <a:rPr sz="1300" b="1">
                          <a:solidFill>
                            <a:srgbClr val="FFFFFF"/>
                          </a:solidFill>
                          <a:latin typeface="Calibri"/>
                        </a:rPr>
                        <a:t>Proves identity with</a:t>
                      </a:r>
                    </a:p>
                  </a:txBody>
                  <a:tcPr>
                    <a:solidFill>
                      <a:srgbClr val="142447"/>
                    </a:solidFill>
                  </a:tcPr>
                </a:tc>
                <a:tc>
                  <a:txBody>
                    <a:bodyPr/>
                    <a:lstStyle/>
                    <a:p>
                      <a:r>
                        <a:rPr sz="1300" b="1">
                          <a:solidFill>
                            <a:srgbClr val="FFFFFF"/>
                          </a:solidFill>
                          <a:latin typeface="Calibri"/>
                        </a:rPr>
                        <a:t>May only…</a:t>
                      </a:r>
                    </a:p>
                  </a:txBody>
                  <a:tcPr>
                    <a:solidFill>
                      <a:srgbClr val="142447"/>
                    </a:solidFill>
                  </a:tcPr>
                </a:tc>
              </a:tr>
              <a:tr h="574765">
                <a:tc>
                  <a:txBody>
                    <a:bodyPr/>
                    <a:lstStyle/>
                    <a:p>
                      <a:r>
                        <a:rPr sz="1300" b="0">
                          <a:solidFill>
                            <a:srgbClr val="262B36"/>
                          </a:solidFill>
                          <a:latin typeface="Calibri"/>
                        </a:rPr>
                        <a:t>GitHub Actions</a:t>
                      </a:r>
                    </a:p>
                  </a:txBody>
                  <a:tcPr>
                    <a:solidFill>
                      <a:srgbClr val="F5F7FA"/>
                    </a:solidFill>
                  </a:tcPr>
                </a:tc>
                <a:tc>
                  <a:txBody>
                    <a:bodyPr/>
                    <a:lstStyle/>
                    <a:p>
                      <a:r>
                        <a:rPr sz="1300" b="0">
                          <a:solidFill>
                            <a:srgbClr val="262B36"/>
                          </a:solidFill>
                          <a:latin typeface="Calibri"/>
                        </a:rPr>
                        <a:t>OIDC, main branch + repo id</a:t>
                      </a:r>
                    </a:p>
                  </a:txBody>
                  <a:tcPr>
                    <a:solidFill>
                      <a:srgbClr val="F5F7FA"/>
                    </a:solidFill>
                  </a:tcPr>
                </a:tc>
                <a:tc>
                  <a:txBody>
                    <a:bodyPr/>
                    <a:lstStyle/>
                    <a:p>
                      <a:r>
                        <a:rPr sz="1300" b="0">
                          <a:solidFill>
                            <a:srgbClr val="262B36"/>
                          </a:solidFill>
                          <a:latin typeface="Calibri"/>
                        </a:rPr>
                        <a:t>push to its own image repo</a:t>
                      </a:r>
                    </a:p>
                  </a:txBody>
                  <a:tcPr>
                    <a:solidFill>
                      <a:srgbClr val="F5F7FA"/>
                    </a:solidFill>
                  </a:tcPr>
                </a:tc>
              </a:tr>
              <a:tr h="574765">
                <a:tc>
                  <a:txBody>
                    <a:bodyPr/>
                    <a:lstStyle/>
                    <a:p>
                      <a:r>
                        <a:rPr sz="1300" b="0">
                          <a:solidFill>
                            <a:srgbClr val="262B36"/>
                          </a:solidFill>
                          <a:latin typeface="Calibri"/>
                        </a:rPr>
                        <a:t>Failover workflow</a:t>
                      </a:r>
                    </a:p>
                  </a:txBody>
                  <a:tcPr>
                    <a:solidFill>
                      <a:srgbClr val="FFFFFF"/>
                    </a:solidFill>
                  </a:tcPr>
                </a:tc>
                <a:tc>
                  <a:txBody>
                    <a:bodyPr/>
                    <a:lstStyle/>
                    <a:p>
                      <a:r>
                        <a:rPr sz="1300" b="0">
                          <a:solidFill>
                            <a:srgbClr val="262B36"/>
                          </a:solidFill>
                          <a:latin typeface="Calibri"/>
                        </a:rPr>
                        <a:t>OIDC</a:t>
                      </a:r>
                    </a:p>
                  </a:txBody>
                  <a:tcPr>
                    <a:solidFill>
                      <a:srgbClr val="FFFFFF"/>
                    </a:solidFill>
                  </a:tcPr>
                </a:tc>
                <a:tc>
                  <a:txBody>
                    <a:bodyPr/>
                    <a:lstStyle/>
                    <a:p>
                      <a:r>
                        <a:rPr sz="1300" b="0">
                          <a:solidFill>
                            <a:srgbClr val="262B36"/>
                          </a:solidFill>
                          <a:latin typeface="Calibri"/>
                        </a:rPr>
                        <a:t>start AKS / resize node group — nothing else</a:t>
                      </a:r>
                    </a:p>
                  </a:txBody>
                  <a:tcPr>
                    <a:solidFill>
                      <a:srgbClr val="FFFFFF"/>
                    </a:solidFill>
                  </a:tcPr>
                </a:tc>
              </a:tr>
              <a:tr h="574765">
                <a:tc>
                  <a:txBody>
                    <a:bodyPr/>
                    <a:lstStyle/>
                    <a:p>
                      <a:r>
                        <a:rPr sz="1300" b="0">
                          <a:solidFill>
                            <a:srgbClr val="262B36"/>
                          </a:solidFill>
                          <a:latin typeface="Calibri"/>
                        </a:rPr>
                        <a:t>Jenkins (GKE)</a:t>
                      </a:r>
                    </a:p>
                  </a:txBody>
                  <a:tcPr>
                    <a:solidFill>
                      <a:srgbClr val="F5F7FA"/>
                    </a:solidFill>
                  </a:tcPr>
                </a:tc>
                <a:tc>
                  <a:txBody>
                    <a:bodyPr/>
                    <a:lstStyle/>
                    <a:p>
                      <a:r>
                        <a:rPr sz="1300" b="0">
                          <a:solidFill>
                            <a:srgbClr val="262B36"/>
                          </a:solidFill>
                          <a:latin typeface="Calibri"/>
                        </a:rPr>
                        <a:t>k8s token federated to Azure, AWS</a:t>
                      </a:r>
                    </a:p>
                  </a:txBody>
                  <a:tcPr>
                    <a:solidFill>
                      <a:srgbClr val="F5F7FA"/>
                    </a:solidFill>
                  </a:tcPr>
                </a:tc>
                <a:tc>
                  <a:txBody>
                    <a:bodyPr/>
                    <a:lstStyle/>
                    <a:p>
                      <a:r>
                        <a:rPr sz="1300" b="0">
                          <a:solidFill>
                            <a:srgbClr val="262B36"/>
                          </a:solidFill>
                          <a:latin typeface="Calibri"/>
                        </a:rPr>
                        <a:t>deploy in namespace mern</a:t>
                      </a:r>
                    </a:p>
                  </a:txBody>
                  <a:tcPr>
                    <a:solidFill>
                      <a:srgbClr val="F5F7FA"/>
                    </a:solidFill>
                  </a:tcPr>
                </a:tc>
              </a:tr>
              <a:tr h="574765">
                <a:tc>
                  <a:txBody>
                    <a:bodyPr/>
                    <a:lstStyle/>
                    <a:p>
                      <a:r>
                        <a:rPr sz="1300" b="0">
                          <a:solidFill>
                            <a:srgbClr val="262B36"/>
                          </a:solidFill>
                          <a:latin typeface="Calibri"/>
                        </a:rPr>
                        <a:t>Backup job</a:t>
                      </a:r>
                    </a:p>
                  </a:txBody>
                  <a:tcPr>
                    <a:solidFill>
                      <a:srgbClr val="FFFFFF"/>
                    </a:solidFill>
                  </a:tcPr>
                </a:tc>
                <a:tc>
                  <a:txBody>
                    <a:bodyPr/>
                    <a:lstStyle/>
                    <a:p>
                      <a:r>
                        <a:rPr sz="1300" b="0">
                          <a:solidFill>
                            <a:srgbClr val="262B36"/>
                          </a:solidFill>
                          <a:latin typeface="Calibri"/>
                        </a:rPr>
                        <a:t>workload identity</a:t>
                      </a:r>
                    </a:p>
                  </a:txBody>
                  <a:tcPr>
                    <a:solidFill>
                      <a:srgbClr val="FFFFFF"/>
                    </a:solidFill>
                  </a:tcPr>
                </a:tc>
                <a:tc>
                  <a:txBody>
                    <a:bodyPr/>
                    <a:lstStyle/>
                    <a:p>
                      <a:r>
                        <a:rPr sz="1300" b="0">
                          <a:solidFill>
                            <a:srgbClr val="262B36"/>
                          </a:solidFill>
                          <a:latin typeface="Calibri"/>
                        </a:rPr>
                        <a:t>write-only to backup buckets</a:t>
                      </a:r>
                    </a:p>
                  </a:txBody>
                  <a:tcPr>
                    <a:solidFill>
                      <a:srgbClr val="FFFFFF"/>
                    </a:solidFill>
                  </a:tcPr>
                </a:tc>
              </a:tr>
              <a:tr h="574765">
                <a:tc>
                  <a:txBody>
                    <a:bodyPr/>
                    <a:lstStyle/>
                    <a:p>
                      <a:r>
                        <a:rPr sz="1300" b="0">
                          <a:solidFill>
                            <a:srgbClr val="262B36"/>
                          </a:solidFill>
                          <a:latin typeface="Calibri"/>
                        </a:rPr>
                        <a:t>Restore drill</a:t>
                      </a:r>
                    </a:p>
                  </a:txBody>
                  <a:tcPr>
                    <a:solidFill>
                      <a:srgbClr val="F5F7FA"/>
                    </a:solidFill>
                  </a:tcPr>
                </a:tc>
                <a:tc>
                  <a:txBody>
                    <a:bodyPr/>
                    <a:lstStyle/>
                    <a:p>
                      <a:r>
                        <a:rPr sz="1300" b="0">
                          <a:solidFill>
                            <a:srgbClr val="262B36"/>
                          </a:solidFill>
                          <a:latin typeface="Calibri"/>
                        </a:rPr>
                        <a:t>workload identity</a:t>
                      </a:r>
                    </a:p>
                  </a:txBody>
                  <a:tcPr>
                    <a:solidFill>
                      <a:srgbClr val="F5F7FA"/>
                    </a:solidFill>
                  </a:tcPr>
                </a:tc>
                <a:tc>
                  <a:txBody>
                    <a:bodyPr/>
                    <a:lstStyle/>
                    <a:p>
                      <a:r>
                        <a:rPr sz="1300" b="0">
                          <a:solidFill>
                            <a:srgbClr val="262B36"/>
                          </a:solidFill>
                          <a:latin typeface="Calibri"/>
                        </a:rPr>
                        <a:t>read-only; scratch DB only</a:t>
                      </a:r>
                    </a:p>
                  </a:txBody>
                  <a:tcPr>
                    <a:solidFill>
                      <a:srgbClr val="F5F7FA"/>
                    </a:solidFill>
                  </a:tcPr>
                </a:tc>
              </a:tr>
              <a:tr h="574770">
                <a:tc>
                  <a:txBody>
                    <a:bodyPr/>
                    <a:lstStyle/>
                    <a:p>
                      <a:r>
                        <a:rPr sz="1300" b="0">
                          <a:solidFill>
                            <a:srgbClr val="262B36"/>
                          </a:solidFill>
                          <a:latin typeface="Calibri"/>
                        </a:rPr>
                        <a:t>External Secrets</a:t>
                      </a:r>
                    </a:p>
                  </a:txBody>
                  <a:tcPr>
                    <a:solidFill>
                      <a:srgbClr val="FFFFFF"/>
                    </a:solidFill>
                  </a:tcPr>
                </a:tc>
                <a:tc>
                  <a:txBody>
                    <a:bodyPr/>
                    <a:lstStyle/>
                    <a:p>
                      <a:r>
                        <a:rPr sz="1300" b="0">
                          <a:solidFill>
                            <a:srgbClr val="262B36"/>
                          </a:solidFill>
                          <a:latin typeface="Calibri"/>
                        </a:rPr>
                        <a:t>workload identity</a:t>
                      </a:r>
                    </a:p>
                  </a:txBody>
                  <a:tcPr>
                    <a:solidFill>
                      <a:srgbClr val="FFFFFF"/>
                    </a:solidFill>
                  </a:tcPr>
                </a:tc>
                <a:tc>
                  <a:txBody>
                    <a:bodyPr/>
                    <a:lstStyle/>
                    <a:p>
                      <a:r>
                        <a:rPr sz="1300" b="0">
                          <a:solidFill>
                            <a:srgbClr val="262B36"/>
                          </a:solidFill>
                          <a:latin typeface="Calibri"/>
                        </a:rPr>
                        <a:t>read its own cloud's vault</a:t>
                      </a:r>
                    </a:p>
                  </a:txBody>
                  <a:tcPr>
                    <a:solidFill>
                      <a:srgbClr val="FFFFFF"/>
                    </a:solidFill>
                  </a:tcPr>
                </a:tc>
              </a:tr>
            </a:tbl>
          </a:graphicData>
        </a:graphic>
      </p:graphicFrame>
      <p:sp>
        <p:nvSpPr>
          <p:cNvPr id="8" name="Rectangle 7"/>
          <p:cNvSpPr/>
          <p:nvPr/>
        </p:nvSpPr>
        <p:spPr>
          <a:xfrm>
            <a:off x="7818120" y="14630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18120" y="1463040"/>
            <a:ext cx="73152" cy="123444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19288" y="1572768"/>
            <a:ext cx="3520440" cy="411480"/>
          </a:xfrm>
          <a:prstGeom prst="rect">
            <a:avLst/>
          </a:prstGeom>
          <a:noFill/>
        </p:spPr>
        <p:txBody>
          <a:bodyPr wrap="square" lIns="45720" rIns="45720" tIns="18288" bIns="18288" anchor="t">
            <a:spAutoFit/>
          </a:bodyPr>
          <a:lstStyle/>
          <a:p>
            <a:pPr algn="l">
              <a:spcAft>
                <a:spcPts val="400"/>
              </a:spcAft>
            </a:pPr>
            <a:r>
              <a:rPr sz="1500" b="1" i="0">
                <a:solidFill>
                  <a:srgbClr val="142447"/>
                </a:solidFill>
                <a:latin typeface="Calibri"/>
              </a:rPr>
              <a:t>Secrets</a:t>
            </a:r>
          </a:p>
        </p:txBody>
      </p:sp>
      <p:sp>
        <p:nvSpPr>
          <p:cNvPr id="11" name="TextBox 10"/>
          <p:cNvSpPr txBox="1"/>
          <p:nvPr/>
        </p:nvSpPr>
        <p:spPr>
          <a:xfrm>
            <a:off x="8019288" y="1965960"/>
            <a:ext cx="3520440" cy="68580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live only in each cloud's vault; synced by External Secrets; never in git</a:t>
            </a:r>
          </a:p>
        </p:txBody>
      </p:sp>
      <p:sp>
        <p:nvSpPr>
          <p:cNvPr id="12" name="Rectangle 11"/>
          <p:cNvSpPr/>
          <p:nvPr/>
        </p:nvSpPr>
        <p:spPr>
          <a:xfrm>
            <a:off x="7818120" y="28346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18120" y="2834640"/>
            <a:ext cx="73152" cy="1234440"/>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19288" y="2944368"/>
            <a:ext cx="3520440" cy="411480"/>
          </a:xfrm>
          <a:prstGeom prst="rect">
            <a:avLst/>
          </a:prstGeom>
          <a:noFill/>
        </p:spPr>
        <p:txBody>
          <a:bodyPr wrap="square" lIns="45720" rIns="45720" tIns="18288" bIns="18288" anchor="t">
            <a:spAutoFit/>
          </a:bodyPr>
          <a:lstStyle/>
          <a:p>
            <a:pPr algn="l">
              <a:spcAft>
                <a:spcPts val="400"/>
              </a:spcAft>
            </a:pPr>
            <a:r>
              <a:rPr sz="1500" b="1" i="0">
                <a:solidFill>
                  <a:srgbClr val="142447"/>
                </a:solidFill>
                <a:latin typeface="Calibri"/>
              </a:rPr>
              <a:t>Network doors</a:t>
            </a:r>
          </a:p>
        </p:txBody>
      </p:sp>
      <p:sp>
        <p:nvSpPr>
          <p:cNvPr id="15" name="TextBox 14"/>
          <p:cNvSpPr txBox="1"/>
          <p:nvPr/>
        </p:nvSpPr>
        <p:spPr>
          <a:xfrm>
            <a:off x="8019288" y="3337560"/>
            <a:ext cx="3520440" cy="68580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origins accept only Cloudflare IPs · cluster APIs only admin + GKE IP · DB only cluster IPs</a:t>
            </a:r>
          </a:p>
        </p:txBody>
      </p:sp>
      <p:sp>
        <p:nvSpPr>
          <p:cNvPr id="16" name="Rectangle 15"/>
          <p:cNvSpPr/>
          <p:nvPr/>
        </p:nvSpPr>
        <p:spPr>
          <a:xfrm>
            <a:off x="7818120" y="4206240"/>
            <a:ext cx="3840480" cy="123444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4206240"/>
            <a:ext cx="73152" cy="123444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9288" y="4315968"/>
            <a:ext cx="3520440" cy="411480"/>
          </a:xfrm>
          <a:prstGeom prst="rect">
            <a:avLst/>
          </a:prstGeom>
          <a:noFill/>
        </p:spPr>
        <p:txBody>
          <a:bodyPr wrap="square" lIns="45720" rIns="45720" tIns="18288" bIns="18288" anchor="t">
            <a:spAutoFit/>
          </a:bodyPr>
          <a:lstStyle/>
          <a:p>
            <a:pPr algn="l">
              <a:spcAft>
                <a:spcPts val="400"/>
              </a:spcAft>
            </a:pPr>
            <a:r>
              <a:rPr sz="1500" b="1" i="0">
                <a:solidFill>
                  <a:srgbClr val="142447"/>
                </a:solidFill>
                <a:latin typeface="Calibri"/>
              </a:rPr>
              <a:t>Supply chain</a:t>
            </a:r>
          </a:p>
        </p:txBody>
      </p:sp>
      <p:sp>
        <p:nvSpPr>
          <p:cNvPr id="19" name="TextBox 18"/>
          <p:cNvSpPr txBox="1"/>
          <p:nvPr/>
        </p:nvSpPr>
        <p:spPr>
          <a:xfrm>
            <a:off x="8019288" y="4709160"/>
            <a:ext cx="3520440" cy="685800"/>
          </a:xfrm>
          <a:prstGeom prst="rect">
            <a:avLst/>
          </a:prstGeom>
          <a:noFill/>
        </p:spPr>
        <p:txBody>
          <a:bodyPr wrap="square" lIns="45720" rIns="45720" tIns="18288" bIns="18288" anchor="t">
            <a:spAutoFit/>
          </a:bodyPr>
          <a:lstStyle/>
          <a:p>
            <a:pPr algn="l">
              <a:spcAft>
                <a:spcPts val="400"/>
              </a:spcAft>
            </a:pPr>
            <a:r>
              <a:rPr sz="1200" b="0" i="0">
                <a:solidFill>
                  <a:srgbClr val="262B36"/>
                </a:solidFill>
                <a:latin typeface="Calibri"/>
              </a:rPr>
              <a:t>actions pinned to SHAs · Trivy + gitleaks gates · immutable tags · same digest everywhere</a:t>
            </a:r>
          </a:p>
        </p:txBody>
      </p:sp>
      <p:sp>
        <p:nvSpPr>
          <p:cNvPr id="20" name="TextBox 19"/>
          <p:cNvSpPr txBox="1"/>
          <p:nvPr/>
        </p:nvSpPr>
        <p:spPr>
          <a:xfrm>
            <a:off x="548640" y="5669280"/>
            <a:ext cx="10972800" cy="548640"/>
          </a:xfrm>
          <a:prstGeom prst="rect">
            <a:avLst/>
          </a:prstGeom>
          <a:noFill/>
        </p:spPr>
        <p:txBody>
          <a:bodyPr wrap="square" lIns="45720" rIns="45720" tIns="18288" bIns="18288" anchor="t">
            <a:spAutoFit/>
          </a:bodyPr>
          <a:lstStyle/>
          <a:p>
            <a:pPr algn="l">
              <a:spcAft>
                <a:spcPts val="400"/>
              </a:spcAft>
            </a:pPr>
            <a:r>
              <a:rPr sz="1400" b="1" i="0">
                <a:solidFill>
                  <a:srgbClr val="C62828"/>
                </a:solidFill>
                <a:latin typeface="Calibri"/>
              </a:rPr>
              <a:t>Found in testing: </a:t>
            </a:r>
            <a:r>
              <a:rPr sz="1400" b="0" i="0">
                <a:solidFill>
                  <a:srgbClr val="262B36"/>
                </a:solidFill>
                <a:latin typeface="Calibri"/>
              </a:rPr>
              <a:t>a manual 0.0.0.0/0 entry on the Atlas allow-list from early development — removed; now only Terraform-managed cluster IPs.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CI/CD</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One merge → three clouds, with gates and rollback</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7</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Pentagon 6"/>
          <p:cNvSpPr/>
          <p:nvPr/>
        </p:nvSpPr>
        <p:spPr>
          <a:xfrm>
            <a:off x="548640" y="1463040"/>
            <a:ext cx="2057400" cy="1051560"/>
          </a:xfrm>
          <a:prstGeom prst="homePlat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63040"/>
            <a:ext cx="1554480" cy="1051560"/>
          </a:xfrm>
          <a:prstGeom prst="rect">
            <a:avLst/>
          </a:prstGeom>
          <a:noFill/>
        </p:spPr>
        <p:txBody>
          <a:bodyPr wrap="square" lIns="45720" rIns="45720" tIns="18288" bIns="18288" anchor="ctr">
            <a:spAutoFit/>
          </a:bodyPr>
          <a:lstStyle/>
          <a:p>
            <a:pPr algn="ctr">
              <a:spcAft>
                <a:spcPts val="400"/>
              </a:spcAft>
            </a:pPr>
            <a:r>
              <a:rPr sz="1800" b="1" i="0">
                <a:solidFill>
                  <a:srgbClr val="FFFFFF"/>
                </a:solidFill>
                <a:latin typeface="Calibri"/>
              </a:rPr>
              <a:t>PR</a:t>
            </a:r>
          </a:p>
        </p:txBody>
      </p:sp>
      <p:sp>
        <p:nvSpPr>
          <p:cNvPr id="9" name="TextBox 8"/>
          <p:cNvSpPr txBox="1"/>
          <p:nvPr/>
        </p:nvSpPr>
        <p:spPr>
          <a:xfrm>
            <a:off x="548640" y="2606040"/>
            <a:ext cx="2103120" cy="731520"/>
          </a:xfrm>
          <a:prstGeom prst="rect">
            <a:avLst/>
          </a:prstGeom>
          <a:noFill/>
        </p:spPr>
        <p:txBody>
          <a:bodyPr wrap="square" lIns="45720" rIns="45720" tIns="18288" bIns="18288" anchor="t">
            <a:spAutoFit/>
          </a:bodyPr>
          <a:lstStyle/>
          <a:p>
            <a:pPr algn="ctr">
              <a:spcAft>
                <a:spcPts val="400"/>
              </a:spcAft>
            </a:pPr>
            <a:r>
              <a:rPr sz="1200" b="0" i="0">
                <a:solidFill>
                  <a:srgbClr val="262B36"/>
                </a:solidFill>
                <a:latin typeface="Calibri"/>
              </a:rPr>
              <a:t>tests · coverage · gitleaks · Trivy</a:t>
            </a:r>
          </a:p>
        </p:txBody>
      </p:sp>
      <p:sp>
        <p:nvSpPr>
          <p:cNvPr id="10" name="Chevron 9"/>
          <p:cNvSpPr/>
          <p:nvPr/>
        </p:nvSpPr>
        <p:spPr>
          <a:xfrm>
            <a:off x="2834640" y="1463040"/>
            <a:ext cx="2057400" cy="1051560"/>
          </a:xfrm>
          <a:prstGeom prst="chevron">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463040"/>
            <a:ext cx="1554480" cy="1051560"/>
          </a:xfrm>
          <a:prstGeom prst="rect">
            <a:avLst/>
          </a:prstGeom>
          <a:noFill/>
        </p:spPr>
        <p:txBody>
          <a:bodyPr wrap="square" lIns="45720" rIns="45720" tIns="18288" bIns="18288" anchor="ctr">
            <a:spAutoFit/>
          </a:bodyPr>
          <a:lstStyle/>
          <a:p>
            <a:pPr algn="ctr">
              <a:spcAft>
                <a:spcPts val="400"/>
              </a:spcAft>
            </a:pPr>
            <a:r>
              <a:rPr sz="1800" b="1" i="0">
                <a:solidFill>
                  <a:srgbClr val="FFFFFF"/>
                </a:solidFill>
                <a:latin typeface="Calibri"/>
              </a:rPr>
              <a:t>merge</a:t>
            </a:r>
          </a:p>
        </p:txBody>
      </p:sp>
      <p:sp>
        <p:nvSpPr>
          <p:cNvPr id="12" name="TextBox 11"/>
          <p:cNvSpPr txBox="1"/>
          <p:nvPr/>
        </p:nvSpPr>
        <p:spPr>
          <a:xfrm>
            <a:off x="2834640" y="2606040"/>
            <a:ext cx="2103120" cy="731520"/>
          </a:xfrm>
          <a:prstGeom prst="rect">
            <a:avLst/>
          </a:prstGeom>
          <a:noFill/>
        </p:spPr>
        <p:txBody>
          <a:bodyPr wrap="square" lIns="45720" rIns="45720" tIns="18288" bIns="18288" anchor="t">
            <a:spAutoFit/>
          </a:bodyPr>
          <a:lstStyle/>
          <a:p>
            <a:pPr algn="ctr">
              <a:spcAft>
                <a:spcPts val="400"/>
              </a:spcAft>
            </a:pPr>
            <a:r>
              <a:rPr sz="1200" b="0" i="0">
                <a:solidFill>
                  <a:srgbClr val="262B36"/>
                </a:solidFill>
                <a:latin typeface="Calibri"/>
              </a:rPr>
              <a:t>keyless login to 3 clouds</a:t>
            </a:r>
          </a:p>
        </p:txBody>
      </p:sp>
      <p:sp>
        <p:nvSpPr>
          <p:cNvPr id="13" name="Chevron 12"/>
          <p:cNvSpPr/>
          <p:nvPr/>
        </p:nvSpPr>
        <p:spPr>
          <a:xfrm>
            <a:off x="5120640" y="1463040"/>
            <a:ext cx="2057400" cy="1051560"/>
          </a:xfrm>
          <a:prstGeom prst="chevron">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1463040"/>
            <a:ext cx="1554480" cy="1051560"/>
          </a:xfrm>
          <a:prstGeom prst="rect">
            <a:avLst/>
          </a:prstGeom>
          <a:noFill/>
        </p:spPr>
        <p:txBody>
          <a:bodyPr wrap="square" lIns="45720" rIns="45720" tIns="18288" bIns="18288" anchor="ctr">
            <a:spAutoFit/>
          </a:bodyPr>
          <a:lstStyle/>
          <a:p>
            <a:pPr algn="ctr">
              <a:spcAft>
                <a:spcPts val="400"/>
              </a:spcAft>
            </a:pPr>
            <a:r>
              <a:rPr sz="1800" b="1" i="0">
                <a:solidFill>
                  <a:srgbClr val="FFFFFF"/>
                </a:solidFill>
                <a:latin typeface="Calibri"/>
              </a:rPr>
              <a:t>push</a:t>
            </a:r>
          </a:p>
        </p:txBody>
      </p:sp>
      <p:sp>
        <p:nvSpPr>
          <p:cNvPr id="15" name="TextBox 14"/>
          <p:cNvSpPr txBox="1"/>
          <p:nvPr/>
        </p:nvSpPr>
        <p:spPr>
          <a:xfrm>
            <a:off x="5120640" y="2606040"/>
            <a:ext cx="2103120" cy="731520"/>
          </a:xfrm>
          <a:prstGeom prst="rect">
            <a:avLst/>
          </a:prstGeom>
          <a:noFill/>
        </p:spPr>
        <p:txBody>
          <a:bodyPr wrap="square" lIns="45720" rIns="45720" tIns="18288" bIns="18288" anchor="t">
            <a:spAutoFit/>
          </a:bodyPr>
          <a:lstStyle/>
          <a:p>
            <a:pPr algn="ctr">
              <a:spcAft>
                <a:spcPts val="400"/>
              </a:spcAft>
            </a:pPr>
            <a:r>
              <a:rPr sz="1200" b="0" i="0">
                <a:solidFill>
                  <a:srgbClr val="262B36"/>
                </a:solidFill>
                <a:latin typeface="Calibri"/>
              </a:rPr>
              <a:t>same digest → ECR · ACR · GAR</a:t>
            </a:r>
          </a:p>
        </p:txBody>
      </p:sp>
      <p:sp>
        <p:nvSpPr>
          <p:cNvPr id="16" name="Chevron 15"/>
          <p:cNvSpPr/>
          <p:nvPr/>
        </p:nvSpPr>
        <p:spPr>
          <a:xfrm>
            <a:off x="7406640" y="1463040"/>
            <a:ext cx="2057400" cy="1051560"/>
          </a:xfrm>
          <a:prstGeom prst="chevron">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463040"/>
            <a:ext cx="1554480" cy="1051560"/>
          </a:xfrm>
          <a:prstGeom prst="rect">
            <a:avLst/>
          </a:prstGeom>
          <a:noFill/>
        </p:spPr>
        <p:txBody>
          <a:bodyPr wrap="square" lIns="45720" rIns="45720" tIns="18288" bIns="18288" anchor="ctr">
            <a:spAutoFit/>
          </a:bodyPr>
          <a:lstStyle/>
          <a:p>
            <a:pPr algn="ctr">
              <a:spcAft>
                <a:spcPts val="400"/>
              </a:spcAft>
            </a:pPr>
            <a:r>
              <a:rPr sz="1800" b="1" i="0">
                <a:solidFill>
                  <a:srgbClr val="FFFFFF"/>
                </a:solidFill>
                <a:latin typeface="Calibri"/>
              </a:rPr>
              <a:t>Jenkins</a:t>
            </a:r>
          </a:p>
        </p:txBody>
      </p:sp>
      <p:sp>
        <p:nvSpPr>
          <p:cNvPr id="18" name="TextBox 17"/>
          <p:cNvSpPr txBox="1"/>
          <p:nvPr/>
        </p:nvSpPr>
        <p:spPr>
          <a:xfrm>
            <a:off x="7406640" y="2606040"/>
            <a:ext cx="2103120" cy="731520"/>
          </a:xfrm>
          <a:prstGeom prst="rect">
            <a:avLst/>
          </a:prstGeom>
          <a:noFill/>
        </p:spPr>
        <p:txBody>
          <a:bodyPr wrap="square" lIns="45720" rIns="45720" tIns="18288" bIns="18288" anchor="t">
            <a:spAutoFit/>
          </a:bodyPr>
          <a:lstStyle/>
          <a:p>
            <a:pPr algn="ctr">
              <a:spcAft>
                <a:spcPts val="400"/>
              </a:spcAft>
            </a:pPr>
            <a:r>
              <a:rPr sz="1200" b="0" i="0">
                <a:solidFill>
                  <a:srgbClr val="262B36"/>
                </a:solidFill>
                <a:latin typeface="Calibri"/>
              </a:rPr>
              <a:t>GCP → Azure → AWS, smoke test each</a:t>
            </a:r>
          </a:p>
        </p:txBody>
      </p:sp>
      <p:sp>
        <p:nvSpPr>
          <p:cNvPr id="19" name="Chevron 18"/>
          <p:cNvSpPr/>
          <p:nvPr/>
        </p:nvSpPr>
        <p:spPr>
          <a:xfrm>
            <a:off x="9692640" y="1463040"/>
            <a:ext cx="2057400" cy="1051560"/>
          </a:xfrm>
          <a:prstGeom prst="chevron">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0" y="1463040"/>
            <a:ext cx="1554480" cy="1051560"/>
          </a:xfrm>
          <a:prstGeom prst="rect">
            <a:avLst/>
          </a:prstGeom>
          <a:noFill/>
        </p:spPr>
        <p:txBody>
          <a:bodyPr wrap="square" lIns="45720" rIns="45720" tIns="18288" bIns="18288" anchor="ctr">
            <a:spAutoFit/>
          </a:bodyPr>
          <a:lstStyle/>
          <a:p>
            <a:pPr algn="ctr">
              <a:spcAft>
                <a:spcPts val="400"/>
              </a:spcAft>
            </a:pPr>
            <a:r>
              <a:rPr sz="1800" b="1" i="0">
                <a:solidFill>
                  <a:srgbClr val="FFFFFF"/>
                </a:solidFill>
                <a:latin typeface="Calibri"/>
              </a:rPr>
              <a:t>Slack</a:t>
            </a:r>
          </a:p>
        </p:txBody>
      </p:sp>
      <p:sp>
        <p:nvSpPr>
          <p:cNvPr id="21" name="TextBox 20"/>
          <p:cNvSpPr txBox="1"/>
          <p:nvPr/>
        </p:nvSpPr>
        <p:spPr>
          <a:xfrm>
            <a:off x="9692640" y="2606040"/>
            <a:ext cx="2103120" cy="731520"/>
          </a:xfrm>
          <a:prstGeom prst="rect">
            <a:avLst/>
          </a:prstGeom>
          <a:noFill/>
        </p:spPr>
        <p:txBody>
          <a:bodyPr wrap="square" lIns="45720" rIns="45720" tIns="18288" bIns="18288" anchor="t">
            <a:spAutoFit/>
          </a:bodyPr>
          <a:lstStyle/>
          <a:p>
            <a:pPr algn="ctr">
              <a:spcAft>
                <a:spcPts val="400"/>
              </a:spcAft>
            </a:pPr>
            <a:r>
              <a:rPr sz="1200" b="0" i="0">
                <a:solidFill>
                  <a:srgbClr val="262B36"/>
                </a:solidFill>
                <a:latin typeface="Calibri"/>
              </a:rPr>
              <a:t>live in gcp, azure, aws</a:t>
            </a:r>
          </a:p>
        </p:txBody>
      </p:sp>
      <p:sp>
        <p:nvSpPr>
          <p:cNvPr id="22" name="TextBox 21"/>
          <p:cNvSpPr txBox="1"/>
          <p:nvPr/>
        </p:nvSpPr>
        <p:spPr>
          <a:xfrm>
            <a:off x="548640" y="3429000"/>
            <a:ext cx="8503920" cy="3200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Evidence from the final test — GitHub run summary and Slack</a:t>
            </a:r>
          </a:p>
        </p:txBody>
      </p:sp>
      <p:pic>
        <p:nvPicPr>
          <p:cNvPr id="23" name="Picture 22" descr="registries.png"/>
          <p:cNvPicPr>
            <a:picLocks noChangeAspect="1"/>
          </p:cNvPicPr>
          <p:nvPr/>
        </p:nvPicPr>
        <p:blipFill>
          <a:blip r:embed="rId2"/>
          <a:stretch>
            <a:fillRect/>
          </a:stretch>
        </p:blipFill>
        <p:spPr>
          <a:xfrm>
            <a:off x="548640" y="3869312"/>
            <a:ext cx="8503920" cy="902456"/>
          </a:xfrm>
          <a:prstGeom prst="rect">
            <a:avLst/>
          </a:prstGeom>
          <a:ln w="9525">
            <a:solidFill>
              <a:srgbClr val="D9DEE7"/>
            </a:solidFill>
          </a:ln>
        </p:spPr>
      </p:pic>
      <p:pic>
        <p:nvPicPr>
          <p:cNvPr id="24" name="Picture 23" descr="deploy-live.png"/>
          <p:cNvPicPr>
            <a:picLocks noChangeAspect="1"/>
          </p:cNvPicPr>
          <p:nvPr/>
        </p:nvPicPr>
        <p:blipFill>
          <a:blip r:embed="rId3"/>
          <a:stretch>
            <a:fillRect/>
          </a:stretch>
        </p:blipFill>
        <p:spPr>
          <a:xfrm>
            <a:off x="548640" y="5084528"/>
            <a:ext cx="8503920" cy="575144"/>
          </a:xfrm>
          <a:prstGeom prst="rect">
            <a:avLst/>
          </a:prstGeom>
          <a:ln w="9525">
            <a:solidFill>
              <a:srgbClr val="D9DEE7"/>
            </a:solidFill>
          </a:ln>
        </p:spPr>
      </p:pic>
      <p:sp>
        <p:nvSpPr>
          <p:cNvPr id="25" name="TextBox 24"/>
          <p:cNvSpPr txBox="1"/>
          <p:nvPr/>
        </p:nvSpPr>
        <p:spPr>
          <a:xfrm>
            <a:off x="9418320" y="3474720"/>
            <a:ext cx="2377440" cy="64008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4 min 57 s</a:t>
            </a:r>
          </a:p>
        </p:txBody>
      </p:sp>
      <p:sp>
        <p:nvSpPr>
          <p:cNvPr id="26" name="TextBox 25"/>
          <p:cNvSpPr txBox="1"/>
          <p:nvPr/>
        </p:nvSpPr>
        <p:spPr>
          <a:xfrm>
            <a:off x="9418320" y="4133088"/>
            <a:ext cx="237744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Jenkins: live in all three clouds</a:t>
            </a:r>
          </a:p>
        </p:txBody>
      </p:sp>
      <p:sp>
        <p:nvSpPr>
          <p:cNvPr id="27" name="TextBox 26"/>
          <p:cNvSpPr txBox="1"/>
          <p:nvPr/>
        </p:nvSpPr>
        <p:spPr>
          <a:xfrm>
            <a:off x="9418320" y="4709160"/>
            <a:ext cx="2377440" cy="640080"/>
          </a:xfrm>
          <a:prstGeom prst="rect">
            <a:avLst/>
          </a:prstGeom>
          <a:noFill/>
        </p:spPr>
        <p:txBody>
          <a:bodyPr wrap="square" lIns="45720" rIns="45720" tIns="18288" bIns="18288" anchor="t">
            <a:spAutoFit/>
          </a:bodyPr>
          <a:lstStyle/>
          <a:p>
            <a:pPr algn="l">
              <a:spcAft>
                <a:spcPts val="400"/>
              </a:spcAft>
            </a:pPr>
            <a:r>
              <a:rPr sz="3000" b="1" i="0">
                <a:solidFill>
                  <a:srgbClr val="1E8E3E"/>
                </a:solidFill>
                <a:latin typeface="Calibri"/>
              </a:rPr>
              <a:t>0 failed</a:t>
            </a:r>
          </a:p>
        </p:txBody>
      </p:sp>
      <p:sp>
        <p:nvSpPr>
          <p:cNvPr id="28" name="TextBox 27"/>
          <p:cNvSpPr txBox="1"/>
          <p:nvPr/>
        </p:nvSpPr>
        <p:spPr>
          <a:xfrm>
            <a:off x="9418320" y="5367528"/>
            <a:ext cx="237744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requests during a deploy (zero-downtime probe, 29 Oct)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HIGH AVAILABILITY &amp; FAILOVER</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GCP goes down → standbys wake themselves</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8</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822960" y="2788920"/>
            <a:ext cx="10515600" cy="54864"/>
          </a:xfrm>
          <a:prstGeom prst="rect">
            <a:avLst/>
          </a:prstGeom>
          <a:solidFill>
            <a:srgbClr val="D9D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724912"/>
            <a:ext cx="5985803" cy="182880"/>
          </a:xfrm>
          <a:prstGeom prst="rect">
            <a:avLst/>
          </a:prstGeom>
          <a:solidFill>
            <a:srgbClr val="F4C7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40744" y="2944368"/>
            <a:ext cx="4368019" cy="274320"/>
          </a:xfrm>
          <a:prstGeom prst="rect">
            <a:avLst/>
          </a:prstGeom>
          <a:noFill/>
        </p:spPr>
        <p:txBody>
          <a:bodyPr wrap="square" lIns="45720" rIns="45720" tIns="18288" bIns="18288" anchor="t">
            <a:spAutoFit/>
          </a:bodyPr>
          <a:lstStyle/>
          <a:p>
            <a:pPr algn="ctr">
              <a:spcAft>
                <a:spcPts val="400"/>
              </a:spcAft>
            </a:pPr>
            <a:r>
              <a:rPr sz="1100" b="1" i="0">
                <a:solidFill>
                  <a:srgbClr val="C62828"/>
                </a:solidFill>
                <a:latin typeface="Calibri"/>
              </a:rPr>
              <a:t>shop unavailable</a:t>
            </a:r>
          </a:p>
        </p:txBody>
      </p:sp>
      <p:sp>
        <p:nvSpPr>
          <p:cNvPr id="10" name="Oval 9"/>
          <p:cNvSpPr/>
          <p:nvPr/>
        </p:nvSpPr>
        <p:spPr>
          <a:xfrm>
            <a:off x="704088" y="2697480"/>
            <a:ext cx="237744" cy="237744"/>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417320"/>
            <a:ext cx="2560320" cy="1188720"/>
          </a:xfrm>
          <a:prstGeom prst="rect">
            <a:avLst/>
          </a:prstGeom>
          <a:noFill/>
        </p:spPr>
        <p:txBody>
          <a:bodyPr wrap="square" lIns="45720" rIns="45720" tIns="18288" bIns="18288" anchor="t">
            <a:spAutoFit/>
          </a:bodyPr>
          <a:lstStyle/>
          <a:p>
            <a:pPr algn="ctr">
              <a:spcAft>
                <a:spcPts val="400"/>
              </a:spcAft>
            </a:pPr>
            <a:r>
              <a:rPr sz="1800" b="1" i="0">
                <a:solidFill>
                  <a:srgbClr val="C62828"/>
                </a:solidFill>
                <a:latin typeface="Calibri"/>
              </a:rPr>
              <a:t>0:00</a:t>
            </a:r>
          </a:p>
          <a:p>
            <a:pPr algn="ctr">
              <a:spcAft>
                <a:spcPts val="400"/>
              </a:spcAft>
            </a:pPr>
            <a:r>
              <a:rPr sz="1200" b="0" i="0">
                <a:solidFill>
                  <a:srgbClr val="262B36"/>
                </a:solidFill>
                <a:latin typeface="Calibri"/>
              </a:rPr>
              <a:t>GCP front door closed</a:t>
            </a:r>
          </a:p>
          <a:p>
            <a:pPr algn="ctr">
              <a:spcAft>
                <a:spcPts val="400"/>
              </a:spcAft>
            </a:pPr>
            <a:r>
              <a:rPr sz="1200" b="0" i="0">
                <a:solidFill>
                  <a:srgbClr val="262B36"/>
                </a:solidFill>
                <a:latin typeface="Calibri"/>
              </a:rPr>
              <a:t>(both standbys asleep)</a:t>
            </a:r>
          </a:p>
        </p:txBody>
      </p:sp>
      <p:sp>
        <p:nvSpPr>
          <p:cNvPr id="12" name="Oval 11"/>
          <p:cNvSpPr/>
          <p:nvPr/>
        </p:nvSpPr>
        <p:spPr>
          <a:xfrm>
            <a:off x="1108534" y="2697480"/>
            <a:ext cx="237744" cy="237744"/>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54" y="3246120"/>
            <a:ext cx="2560320" cy="1188720"/>
          </a:xfrm>
          <a:prstGeom prst="rect">
            <a:avLst/>
          </a:prstGeom>
          <a:noFill/>
        </p:spPr>
        <p:txBody>
          <a:bodyPr wrap="square" lIns="45720" rIns="45720" tIns="18288" bIns="18288" anchor="t">
            <a:spAutoFit/>
          </a:bodyPr>
          <a:lstStyle/>
          <a:p>
            <a:pPr algn="ctr">
              <a:spcAft>
                <a:spcPts val="400"/>
              </a:spcAft>
            </a:pPr>
            <a:r>
              <a:rPr sz="1800" b="1" i="0">
                <a:solidFill>
                  <a:srgbClr val="FF9900"/>
                </a:solidFill>
                <a:latin typeface="Calibri"/>
              </a:rPr>
              <a:t>0:15</a:t>
            </a:r>
          </a:p>
          <a:p>
            <a:pPr algn="ctr">
              <a:spcAft>
                <a:spcPts val="400"/>
              </a:spcAft>
            </a:pPr>
            <a:r>
              <a:rPr sz="1200" b="0" i="0">
                <a:solidFill>
                  <a:srgbClr val="262B36"/>
                </a:solidFill>
                <a:latin typeface="Calibri"/>
              </a:rPr>
              <a:t>Cloudflare marks GCP unhealthy</a:t>
            </a:r>
          </a:p>
          <a:p>
            <a:pPr algn="ctr">
              <a:spcAft>
                <a:spcPts val="400"/>
              </a:spcAft>
            </a:pPr>
            <a:r>
              <a:rPr sz="1200" b="0" i="0">
                <a:solidFill>
                  <a:srgbClr val="262B36"/>
                </a:solidFill>
                <a:latin typeface="Calibri"/>
              </a:rPr>
              <a:t>→ Worker → GitHub Actions</a:t>
            </a:r>
          </a:p>
        </p:txBody>
      </p:sp>
      <p:sp>
        <p:nvSpPr>
          <p:cNvPr id="14" name="Oval 13"/>
          <p:cNvSpPr/>
          <p:nvPr/>
        </p:nvSpPr>
        <p:spPr>
          <a:xfrm>
            <a:off x="6689891" y="2697480"/>
            <a:ext cx="237744" cy="237744"/>
          </a:xfrm>
          <a:prstGeom prst="ellipse">
            <a:avLst/>
          </a:prstGeom>
          <a:solidFill>
            <a:srgbClr val="1E8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28603" y="1417320"/>
            <a:ext cx="2560320" cy="1188720"/>
          </a:xfrm>
          <a:prstGeom prst="rect">
            <a:avLst/>
          </a:prstGeom>
          <a:noFill/>
        </p:spPr>
        <p:txBody>
          <a:bodyPr wrap="square" lIns="45720" rIns="45720" tIns="18288" bIns="18288" anchor="t">
            <a:spAutoFit/>
          </a:bodyPr>
          <a:lstStyle/>
          <a:p>
            <a:pPr algn="ctr">
              <a:spcAft>
                <a:spcPts val="400"/>
              </a:spcAft>
            </a:pPr>
            <a:r>
              <a:rPr sz="1800" b="1" i="0">
                <a:solidFill>
                  <a:srgbClr val="1E8E3E"/>
                </a:solidFill>
                <a:latin typeface="Calibri"/>
              </a:rPr>
              <a:t>3:42</a:t>
            </a:r>
          </a:p>
          <a:p>
            <a:pPr algn="ctr">
              <a:spcAft>
                <a:spcPts val="400"/>
              </a:spcAft>
            </a:pPr>
            <a:r>
              <a:rPr sz="1200" b="0" i="0">
                <a:solidFill>
                  <a:srgbClr val="262B36"/>
                </a:solidFill>
                <a:latin typeface="Calibri"/>
              </a:rPr>
              <a:t>shop answers again,</a:t>
            </a:r>
          </a:p>
          <a:p>
            <a:pPr algn="ctr">
              <a:spcAft>
                <a:spcPts val="400"/>
              </a:spcAft>
            </a:pPr>
            <a:r>
              <a:rPr sz="1200" b="0" i="0">
                <a:solidFill>
                  <a:srgbClr val="262B36"/>
                </a:solidFill>
                <a:latin typeface="Calibri"/>
              </a:rPr>
              <a:t>served by the AWS standby</a:t>
            </a:r>
          </a:p>
        </p:txBody>
      </p:sp>
      <p:sp>
        <p:nvSpPr>
          <p:cNvPr id="16" name="Oval 15"/>
          <p:cNvSpPr/>
          <p:nvPr/>
        </p:nvSpPr>
        <p:spPr>
          <a:xfrm>
            <a:off x="10923094" y="2697480"/>
            <a:ext cx="237744" cy="237744"/>
          </a:xfrm>
          <a:prstGeom prst="ellipse">
            <a:avLst/>
          </a:prstGeom>
          <a:solidFill>
            <a:srgbClr val="008A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1806" y="3246120"/>
            <a:ext cx="2560320" cy="1188720"/>
          </a:xfrm>
          <a:prstGeom prst="rect">
            <a:avLst/>
          </a:prstGeom>
          <a:noFill/>
        </p:spPr>
        <p:txBody>
          <a:bodyPr wrap="square" lIns="45720" rIns="45720" tIns="18288" bIns="18288" anchor="t">
            <a:spAutoFit/>
          </a:bodyPr>
          <a:lstStyle/>
          <a:p>
            <a:pPr algn="ctr">
              <a:spcAft>
                <a:spcPts val="400"/>
              </a:spcAft>
            </a:pPr>
            <a:r>
              <a:rPr sz="1800" b="1" i="0">
                <a:solidFill>
                  <a:srgbClr val="008AD7"/>
                </a:solidFill>
                <a:latin typeface="Calibri"/>
              </a:rPr>
              <a:t>&gt; 6:00</a:t>
            </a:r>
          </a:p>
          <a:p>
            <a:pPr algn="ctr">
              <a:spcAft>
                <a:spcPts val="400"/>
              </a:spcAft>
            </a:pPr>
            <a:r>
              <a:rPr sz="1200" b="0" i="0">
                <a:solidFill>
                  <a:srgbClr val="262B36"/>
                </a:solidFill>
                <a:latin typeface="Calibri"/>
              </a:rPr>
              <a:t>Azure still starting</a:t>
            </a:r>
          </a:p>
          <a:p>
            <a:pPr algn="ctr">
              <a:spcAft>
                <a:spcPts val="400"/>
              </a:spcAft>
            </a:pPr>
            <a:r>
              <a:rPr sz="1200" b="0" i="0">
                <a:solidFill>
                  <a:srgbClr val="262B36"/>
                </a:solidFill>
                <a:latin typeface="Calibri"/>
              </a:rPr>
              <a:t>(AKS start is slower)</a:t>
            </a:r>
          </a:p>
        </p:txBody>
      </p:sp>
      <p:pic>
        <p:nvPicPr>
          <p:cNvPr id="18" name="Picture 17" descr="g14-failover-rto-report.png"/>
          <p:cNvPicPr>
            <a:picLocks noChangeAspect="1"/>
          </p:cNvPicPr>
          <p:nvPr/>
        </p:nvPicPr>
        <p:blipFill>
          <a:blip r:embed="rId2"/>
          <a:stretch>
            <a:fillRect/>
          </a:stretch>
        </p:blipFill>
        <p:spPr>
          <a:xfrm>
            <a:off x="670560" y="4480560"/>
            <a:ext cx="4876800" cy="1828800"/>
          </a:xfrm>
          <a:prstGeom prst="rect">
            <a:avLst/>
          </a:prstGeom>
          <a:ln w="9525">
            <a:solidFill>
              <a:srgbClr val="D9DEE7"/>
            </a:solidFill>
          </a:ln>
        </p:spPr>
      </p:pic>
      <p:sp>
        <p:nvSpPr>
          <p:cNvPr id="19" name="TextBox 18"/>
          <p:cNvSpPr txBox="1"/>
          <p:nvPr/>
        </p:nvSpPr>
        <p:spPr>
          <a:xfrm>
            <a:off x="6035040" y="4434840"/>
            <a:ext cx="2651760" cy="640080"/>
          </a:xfrm>
          <a:prstGeom prst="rect">
            <a:avLst/>
          </a:prstGeom>
          <a:noFill/>
        </p:spPr>
        <p:txBody>
          <a:bodyPr wrap="square" lIns="45720" rIns="45720" tIns="18288" bIns="18288" anchor="t">
            <a:spAutoFit/>
          </a:bodyPr>
          <a:lstStyle/>
          <a:p>
            <a:pPr algn="l">
              <a:spcAft>
                <a:spcPts val="400"/>
              </a:spcAft>
            </a:pPr>
            <a:r>
              <a:rPr sz="3600" b="1" i="0">
                <a:solidFill>
                  <a:srgbClr val="1E8E3E"/>
                </a:solidFill>
                <a:latin typeface="Calibri"/>
              </a:rPr>
              <a:t>3 min 42 s</a:t>
            </a:r>
          </a:p>
        </p:txBody>
      </p:sp>
      <p:sp>
        <p:nvSpPr>
          <p:cNvPr id="20" name="TextBox 19"/>
          <p:cNvSpPr txBox="1"/>
          <p:nvPr/>
        </p:nvSpPr>
        <p:spPr>
          <a:xfrm>
            <a:off x="6035040" y="5093208"/>
            <a:ext cx="265176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recovery time, automatic (target 20 min)</a:t>
            </a:r>
          </a:p>
        </p:txBody>
      </p:sp>
      <p:sp>
        <p:nvSpPr>
          <p:cNvPr id="21" name="TextBox 20"/>
          <p:cNvSpPr txBox="1"/>
          <p:nvPr/>
        </p:nvSpPr>
        <p:spPr>
          <a:xfrm>
            <a:off x="8869680" y="4434840"/>
            <a:ext cx="2834640" cy="1828800"/>
          </a:xfrm>
          <a:prstGeom prst="rect">
            <a:avLst/>
          </a:prstGeom>
          <a:noFill/>
        </p:spPr>
        <p:txBody>
          <a:bodyPr wrap="square" lIns="45720" rIns="45720" tIns="18288" bIns="18288" anchor="t">
            <a:spAutoFit/>
          </a:bodyPr>
          <a:lstStyle/>
          <a:p>
            <a:pPr algn="l">
              <a:spcAft>
                <a:spcPts val="400"/>
              </a:spcAft>
            </a:pPr>
            <a:r>
              <a:rPr sz="1400" b="1" i="0">
                <a:solidFill>
                  <a:srgbClr val="262B36"/>
                </a:solidFill>
                <a:latin typeface="Calibri"/>
              </a:rPr>
              <a:t>Keyless wake-up: </a:t>
            </a:r>
            <a:r>
              <a:rPr sz="1400" b="0" i="0">
                <a:solidFill>
                  <a:srgbClr val="262B36"/>
                </a:solidFill>
                <a:latin typeface="Calibri"/>
              </a:rPr>
              <a:t>roles may only start AKS / resize the EKS node group.</a:t>
            </a:r>
          </a:p>
          <a:p>
            <a:pPr algn="l">
              <a:spcAft>
                <a:spcPts val="400"/>
              </a:spcAft>
            </a:pPr>
            <a:r>
              <a:rPr sz="1400" b="1" i="0">
                <a:solidFill>
                  <a:srgbClr val="262B36"/>
                </a:solidFill>
                <a:latin typeface="Calibri"/>
              </a:rPr>
              <a:t>Design rule: </a:t>
            </a:r>
            <a:r>
              <a:rPr sz="1400" b="0" i="0">
                <a:solidFill>
                  <a:srgbClr val="262B36"/>
                </a:solidFill>
                <a:latin typeface="Calibri"/>
              </a:rPr>
              <a:t>the rescue does not run in the cloud that fails.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BACKUPS &amp; RESTORE DRILLS</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Disaster recovery that is proven, not assumed</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9</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pic>
        <p:nvPicPr>
          <p:cNvPr id="7" name="Picture 6" descr="diagram-backup-restore.png"/>
          <p:cNvPicPr>
            <a:picLocks noChangeAspect="1"/>
          </p:cNvPicPr>
          <p:nvPr/>
        </p:nvPicPr>
        <p:blipFill>
          <a:blip r:embed="rId2"/>
          <a:stretch>
            <a:fillRect/>
          </a:stretch>
        </p:blipFill>
        <p:spPr>
          <a:xfrm>
            <a:off x="1422369" y="1371600"/>
            <a:ext cx="9316782" cy="2194560"/>
          </a:xfrm>
          <a:prstGeom prst="rect">
            <a:avLst/>
          </a:prstGeom>
        </p:spPr>
      </p:pic>
      <p:pic>
        <p:nvPicPr>
          <p:cNvPr id="8" name="Picture 7" descr="g05-slack-backup-and-restores.png"/>
          <p:cNvPicPr>
            <a:picLocks noChangeAspect="1"/>
          </p:cNvPicPr>
          <p:nvPr/>
        </p:nvPicPr>
        <p:blipFill>
          <a:blip r:embed="rId3"/>
          <a:stretch>
            <a:fillRect/>
          </a:stretch>
        </p:blipFill>
        <p:spPr>
          <a:xfrm>
            <a:off x="548640" y="4101036"/>
            <a:ext cx="6949440" cy="1124806"/>
          </a:xfrm>
          <a:prstGeom prst="rect">
            <a:avLst/>
          </a:prstGeom>
          <a:ln w="9525">
            <a:solidFill>
              <a:srgbClr val="D9DEE7"/>
            </a:solidFill>
          </a:ln>
        </p:spPr>
      </p:pic>
      <p:sp>
        <p:nvSpPr>
          <p:cNvPr id="9" name="TextBox 8"/>
          <p:cNvSpPr txBox="1"/>
          <p:nvPr/>
        </p:nvSpPr>
        <p:spPr>
          <a:xfrm>
            <a:off x="7863840" y="3657600"/>
            <a:ext cx="3840480" cy="640080"/>
          </a:xfrm>
          <a:prstGeom prst="rect">
            <a:avLst/>
          </a:prstGeom>
          <a:noFill/>
        </p:spPr>
        <p:txBody>
          <a:bodyPr wrap="square" lIns="45720" rIns="45720" tIns="18288" bIns="18288" anchor="t">
            <a:spAutoFit/>
          </a:bodyPr>
          <a:lstStyle/>
          <a:p>
            <a:pPr algn="l">
              <a:spcAft>
                <a:spcPts val="400"/>
              </a:spcAft>
            </a:pPr>
            <a:r>
              <a:rPr sz="2600" b="1" i="0">
                <a:solidFill>
                  <a:srgbClr val="1E8E3E"/>
                </a:solidFill>
                <a:latin typeface="Calibri"/>
              </a:rPr>
              <a:t>3 / 3</a:t>
            </a:r>
          </a:p>
        </p:txBody>
      </p:sp>
      <p:sp>
        <p:nvSpPr>
          <p:cNvPr id="10" name="TextBox 9"/>
          <p:cNvSpPr txBox="1"/>
          <p:nvPr/>
        </p:nvSpPr>
        <p:spPr>
          <a:xfrm>
            <a:off x="7863840" y="4315968"/>
            <a:ext cx="384048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copies restored and verified (GCS, S3, Azure)</a:t>
            </a:r>
          </a:p>
        </p:txBody>
      </p:sp>
      <p:sp>
        <p:nvSpPr>
          <p:cNvPr id="11" name="TextBox 10"/>
          <p:cNvSpPr txBox="1"/>
          <p:nvPr/>
        </p:nvSpPr>
        <p:spPr>
          <a:xfrm>
            <a:off x="7863840" y="4572000"/>
            <a:ext cx="3840480" cy="640080"/>
          </a:xfrm>
          <a:prstGeom prst="rect">
            <a:avLst/>
          </a:prstGeom>
          <a:noFill/>
        </p:spPr>
        <p:txBody>
          <a:bodyPr wrap="square" lIns="45720" rIns="45720" tIns="18288" bIns="18288" anchor="t">
            <a:spAutoFit/>
          </a:bodyPr>
          <a:lstStyle/>
          <a:p>
            <a:pPr algn="l">
              <a:spcAft>
                <a:spcPts val="400"/>
              </a:spcAft>
            </a:pPr>
            <a:r>
              <a:rPr sz="2600" b="1" i="0">
                <a:solidFill>
                  <a:srgbClr val="142447"/>
                </a:solidFill>
                <a:latin typeface="Calibri"/>
              </a:rPr>
              <a:t>0 read</a:t>
            </a:r>
          </a:p>
        </p:txBody>
      </p:sp>
      <p:sp>
        <p:nvSpPr>
          <p:cNvPr id="12" name="TextBox 11"/>
          <p:cNvSpPr txBox="1"/>
          <p:nvPr/>
        </p:nvSpPr>
        <p:spPr>
          <a:xfrm>
            <a:off x="7863840" y="5230368"/>
            <a:ext cx="384048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rights for the backup identity — write-only</a:t>
            </a:r>
          </a:p>
        </p:txBody>
      </p:sp>
      <p:sp>
        <p:nvSpPr>
          <p:cNvPr id="13" name="TextBox 12"/>
          <p:cNvSpPr txBox="1"/>
          <p:nvPr/>
        </p:nvSpPr>
        <p:spPr>
          <a:xfrm>
            <a:off x="7863840" y="5486400"/>
            <a:ext cx="3840480" cy="640080"/>
          </a:xfrm>
          <a:prstGeom prst="rect">
            <a:avLst/>
          </a:prstGeom>
          <a:noFill/>
        </p:spPr>
        <p:txBody>
          <a:bodyPr wrap="square" lIns="45720" rIns="45720" tIns="18288" bIns="18288" anchor="t">
            <a:spAutoFit/>
          </a:bodyPr>
          <a:lstStyle/>
          <a:p>
            <a:pPr algn="l">
              <a:spcAft>
                <a:spcPts val="400"/>
              </a:spcAft>
            </a:pPr>
            <a:r>
              <a:rPr sz="2600" b="1" i="0">
                <a:solidFill>
                  <a:srgbClr val="FF9900"/>
                </a:solidFill>
                <a:latin typeface="Calibri"/>
              </a:rPr>
              <a:t>≤ 24 h</a:t>
            </a:r>
          </a:p>
        </p:txBody>
      </p:sp>
      <p:sp>
        <p:nvSpPr>
          <p:cNvPr id="14" name="TextBox 13"/>
          <p:cNvSpPr txBox="1"/>
          <p:nvPr/>
        </p:nvSpPr>
        <p:spPr>
          <a:xfrm>
            <a:off x="7863840" y="6144768"/>
            <a:ext cx="3840480" cy="548640"/>
          </a:xfrm>
          <a:prstGeom prst="rect">
            <a:avLst/>
          </a:prstGeom>
          <a:noFill/>
        </p:spPr>
        <p:txBody>
          <a:bodyPr wrap="square" lIns="45720" rIns="45720" tIns="18288" bIns="18288" anchor="t">
            <a:spAutoFit/>
          </a:bodyPr>
          <a:lstStyle/>
          <a:p>
            <a:pPr algn="l">
              <a:spcAft>
                <a:spcPts val="400"/>
              </a:spcAft>
            </a:pPr>
            <a:r>
              <a:rPr sz="1200" b="0" i="0">
                <a:solidFill>
                  <a:srgbClr val="5F6778"/>
                </a:solidFill>
                <a:latin typeface="Calibri"/>
              </a:rPr>
              <a:t>RPO with nightly backups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MONITORING &amp; ALERTING</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One pane of glass for three clouds</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10</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pic>
        <p:nvPicPr>
          <p:cNvPr id="7" name="Picture 6" descr="e02-overview-gcp.png"/>
          <p:cNvPicPr>
            <a:picLocks noChangeAspect="1"/>
          </p:cNvPicPr>
          <p:nvPr/>
        </p:nvPicPr>
        <p:blipFill>
          <a:blip r:embed="rId2"/>
          <a:stretch>
            <a:fillRect/>
          </a:stretch>
        </p:blipFill>
        <p:spPr>
          <a:xfrm>
            <a:off x="548640" y="1870821"/>
            <a:ext cx="5852160" cy="2750596"/>
          </a:xfrm>
          <a:prstGeom prst="rect">
            <a:avLst/>
          </a:prstGeom>
          <a:ln w="9525">
            <a:solidFill>
              <a:srgbClr val="D9DEE7"/>
            </a:solidFill>
          </a:ln>
        </p:spPr>
      </p:pic>
      <p:sp>
        <p:nvSpPr>
          <p:cNvPr id="8" name="TextBox 7"/>
          <p:cNvSpPr txBox="1"/>
          <p:nvPr/>
        </p:nvSpPr>
        <p:spPr>
          <a:xfrm>
            <a:off x="6629400" y="1371600"/>
            <a:ext cx="5120640" cy="365760"/>
          </a:xfrm>
          <a:prstGeom prst="rect">
            <a:avLst/>
          </a:prstGeom>
          <a:noFill/>
        </p:spPr>
        <p:txBody>
          <a:bodyPr wrap="square" lIns="45720" rIns="45720" tIns="18288" bIns="18288" anchor="t">
            <a:spAutoFit/>
          </a:bodyPr>
          <a:lstStyle/>
          <a:p>
            <a:pPr algn="l">
              <a:spcAft>
                <a:spcPts val="400"/>
              </a:spcAft>
            </a:pPr>
            <a:r>
              <a:rPr sz="1400" b="1" i="0">
                <a:solidFill>
                  <a:srgbClr val="142447"/>
                </a:solidFill>
                <a:latin typeface="Calibri"/>
              </a:rPr>
              <a:t>Alert test: catalog-service removed in AWS</a:t>
            </a:r>
          </a:p>
        </p:txBody>
      </p:sp>
      <p:pic>
        <p:nvPicPr>
          <p:cNvPr id="9" name="Picture 8" descr="servicedown-firing.png"/>
          <p:cNvPicPr>
            <a:picLocks noChangeAspect="1"/>
          </p:cNvPicPr>
          <p:nvPr/>
        </p:nvPicPr>
        <p:blipFill>
          <a:blip r:embed="rId3"/>
          <a:stretch>
            <a:fillRect/>
          </a:stretch>
        </p:blipFill>
        <p:spPr>
          <a:xfrm>
            <a:off x="6629400" y="2124456"/>
            <a:ext cx="5120640" cy="780288"/>
          </a:xfrm>
          <a:prstGeom prst="rect">
            <a:avLst/>
          </a:prstGeom>
          <a:ln w="9525">
            <a:solidFill>
              <a:srgbClr val="D9DEE7"/>
            </a:solidFill>
          </a:ln>
        </p:spPr>
      </p:pic>
      <p:pic>
        <p:nvPicPr>
          <p:cNvPr id="10" name="Picture 9" descr="servicedown-resolved.png"/>
          <p:cNvPicPr>
            <a:picLocks noChangeAspect="1"/>
          </p:cNvPicPr>
          <p:nvPr/>
        </p:nvPicPr>
        <p:blipFill>
          <a:blip r:embed="rId4"/>
          <a:stretch>
            <a:fillRect/>
          </a:stretch>
        </p:blipFill>
        <p:spPr>
          <a:xfrm>
            <a:off x="6629400" y="3753155"/>
            <a:ext cx="5120640" cy="723290"/>
          </a:xfrm>
          <a:prstGeom prst="rect">
            <a:avLst/>
          </a:prstGeom>
          <a:ln w="9525">
            <a:solidFill>
              <a:srgbClr val="D9DEE7"/>
            </a:solidFill>
          </a:ln>
        </p:spPr>
      </p:pic>
      <p:sp>
        <p:nvSpPr>
          <p:cNvPr id="11" name="TextBox 10"/>
          <p:cNvSpPr txBox="1"/>
          <p:nvPr/>
        </p:nvSpPr>
        <p:spPr>
          <a:xfrm>
            <a:off x="548640" y="5303520"/>
            <a:ext cx="11155680" cy="1005840"/>
          </a:xfrm>
          <a:prstGeom prst="rect">
            <a:avLst/>
          </a:prstGeom>
          <a:noFill/>
        </p:spPr>
        <p:txBody>
          <a:bodyPr wrap="square" lIns="45720" rIns="45720" tIns="18288" bIns="18288" anchor="t">
            <a:spAutoFit/>
          </a:bodyPr>
          <a:lstStyle/>
          <a:p>
            <a:pPr algn="l">
              <a:spcAft>
                <a:spcPts val="200"/>
              </a:spcAft>
            </a:pPr>
            <a:r>
              <a:rPr sz="1300" b="0" i="0">
                <a:solidFill>
                  <a:srgbClr val="1A73E8"/>
                </a:solidFill>
                <a:latin typeface="Calibri"/>
              </a:rPr>
              <a:t>▪ </a:t>
            </a:r>
            <a:r>
              <a:rPr sz="1300" b="1" i="0">
                <a:solidFill>
                  <a:srgbClr val="262B36"/>
                </a:solidFill>
                <a:latin typeface="Calibri"/>
              </a:rPr>
              <a:t>Per cloud: </a:t>
            </a:r>
            <a:r>
              <a:rPr sz="1300" b="0" i="0">
                <a:solidFill>
                  <a:srgbClr val="262B36"/>
                </a:solidFill>
                <a:latin typeface="Calibri"/>
              </a:rPr>
              <a:t>Prometheus, Loki, OpenCost from one versioned module (v1.1.0)  ·  </a:t>
            </a:r>
          </a:p>
          <a:p>
            <a:pPr algn="l">
              <a:spcAft>
                <a:spcPts val="200"/>
              </a:spcAft>
            </a:pPr>
            <a:r>
              <a:rPr sz="1300" b="0" i="0">
                <a:solidFill>
                  <a:srgbClr val="1A73E8"/>
                </a:solidFill>
                <a:latin typeface="Calibri"/>
              </a:rPr>
              <a:t>▪ </a:t>
            </a:r>
            <a:r>
              <a:rPr sz="1300" b="1" i="0">
                <a:solidFill>
                  <a:srgbClr val="262B36"/>
                </a:solidFill>
                <a:latin typeface="Calibri"/>
              </a:rPr>
              <a:t>Central Grafana: </a:t>
            </a:r>
            <a:r>
              <a:rPr sz="1300" b="0" i="0">
                <a:solidFill>
                  <a:srgbClr val="262B36"/>
                </a:solidFill>
                <a:latin typeface="Calibri"/>
              </a:rPr>
              <a:t>3 × Prometheus + 3 × Loki through Cloudflare Access  ·  </a:t>
            </a:r>
          </a:p>
          <a:p>
            <a:pPr algn="l">
              <a:spcAft>
                <a:spcPts val="200"/>
              </a:spcAft>
            </a:pPr>
            <a:r>
              <a:rPr sz="1300" b="0" i="0">
                <a:solidFill>
                  <a:srgbClr val="1A73E8"/>
                </a:solidFill>
                <a:latin typeface="Calibri"/>
              </a:rPr>
              <a:t>▪ </a:t>
            </a:r>
            <a:r>
              <a:rPr sz="1300" b="1" i="0">
                <a:solidFill>
                  <a:srgbClr val="262B36"/>
                </a:solidFill>
                <a:latin typeface="Calibri"/>
              </a:rPr>
              <a:t>Alerts: </a:t>
            </a:r>
            <a:r>
              <a:rPr sz="1300" b="0" i="0">
                <a:solidFill>
                  <a:srgbClr val="262B36"/>
                </a:solidFill>
                <a:latin typeface="Calibri"/>
              </a:rPr>
              <a:t>MernServiceDown, error rate, latency, restarts + Cloudflare pool health → Slack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COST OPTIMISATION</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 US $17 for a month of running three clouds</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11</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TextBox 6"/>
          <p:cNvSpPr txBox="1"/>
          <p:nvPr/>
        </p:nvSpPr>
        <p:spPr>
          <a:xfrm>
            <a:off x="548640" y="1371600"/>
            <a:ext cx="6400800" cy="365760"/>
          </a:xfrm>
          <a:prstGeom prst="rect">
            <a:avLst/>
          </a:prstGeom>
          <a:noFill/>
        </p:spPr>
        <p:txBody>
          <a:bodyPr wrap="square" lIns="45720" rIns="45720" tIns="18288" bIns="18288" anchor="t">
            <a:spAutoFit/>
          </a:bodyPr>
          <a:lstStyle/>
          <a:p>
            <a:pPr algn="l">
              <a:spcAft>
                <a:spcPts val="400"/>
              </a:spcAft>
            </a:pPr>
            <a:r>
              <a:rPr sz="1400" b="1" i="0">
                <a:solidFill>
                  <a:srgbClr val="142447"/>
                </a:solidFill>
                <a:latin typeface="Calibri"/>
              </a:rPr>
              <a:t>US $ per month</a:t>
            </a:r>
          </a:p>
        </p:txBody>
      </p:sp>
      <p:graphicFrame>
        <p:nvGraphicFramePr>
          <p:cNvPr id="8" name="Chart 7"/>
          <p:cNvGraphicFramePr>
            <a:graphicFrameLocks noGrp="1"/>
          </p:cNvGraphicFramePr>
          <p:nvPr/>
        </p:nvGraphicFramePr>
        <p:xfrm>
          <a:off x="548640" y="1737360"/>
          <a:ext cx="6400800" cy="3703320"/>
        </p:xfrm>
        <a:graphic>
          <a:graphicData uri="http://schemas.openxmlformats.org/drawingml/2006/chart">
            <c:chart xmlns:c="http://schemas.openxmlformats.org/drawingml/2006/chart" r:id="rId2"/>
          </a:graphicData>
        </a:graphic>
      </p:graphicFrame>
      <p:sp>
        <p:nvSpPr>
          <p:cNvPr id="9" name="TextBox 8"/>
          <p:cNvSpPr txBox="1"/>
          <p:nvPr/>
        </p:nvSpPr>
        <p:spPr>
          <a:xfrm>
            <a:off x="548640" y="5486400"/>
            <a:ext cx="6400800" cy="7315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24/7 bars: node run-rates from OpenCost (GCP $140, AWS $131, Azure $81). “Sessions only” = the real October bill for all three clouds.</a:t>
            </a:r>
          </a:p>
        </p:txBody>
      </p:sp>
      <p:sp>
        <p:nvSpPr>
          <p:cNvPr id="10" name="Rectangle 9"/>
          <p:cNvSpPr/>
          <p:nvPr/>
        </p:nvSpPr>
        <p:spPr>
          <a:xfrm>
            <a:off x="7315200" y="1463040"/>
            <a:ext cx="109728" cy="43891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463040"/>
            <a:ext cx="146304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AWS</a:t>
            </a:r>
          </a:p>
        </p:txBody>
      </p:sp>
      <p:sp>
        <p:nvSpPr>
          <p:cNvPr id="12" name="TextBox 11"/>
          <p:cNvSpPr txBox="1"/>
          <p:nvPr/>
        </p:nvSpPr>
        <p:spPr>
          <a:xfrm>
            <a:off x="9052560" y="1463040"/>
            <a:ext cx="2651760" cy="457200"/>
          </a:xfrm>
          <a:prstGeom prst="rect">
            <a:avLst/>
          </a:prstGeom>
          <a:noFill/>
        </p:spPr>
        <p:txBody>
          <a:bodyPr wrap="square" lIns="45720" rIns="45720" tIns="18288" bIns="18288" anchor="ctr">
            <a:spAutoFit/>
          </a:bodyPr>
          <a:lstStyle/>
          <a:p>
            <a:pPr algn="l">
              <a:spcAft>
                <a:spcPts val="400"/>
              </a:spcAft>
            </a:pPr>
            <a:r>
              <a:rPr sz="1500" b="0" i="0">
                <a:solidFill>
                  <a:srgbClr val="262B36"/>
                </a:solidFill>
                <a:latin typeface="Calibri"/>
              </a:rPr>
              <a:t>$6.76</a:t>
            </a:r>
          </a:p>
        </p:txBody>
      </p:sp>
      <p:sp>
        <p:nvSpPr>
          <p:cNvPr id="13" name="Rectangle 12"/>
          <p:cNvSpPr/>
          <p:nvPr/>
        </p:nvSpPr>
        <p:spPr>
          <a:xfrm>
            <a:off x="7315200" y="2029968"/>
            <a:ext cx="109728" cy="438912"/>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2029968"/>
            <a:ext cx="146304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Azure</a:t>
            </a:r>
          </a:p>
        </p:txBody>
      </p:sp>
      <p:sp>
        <p:nvSpPr>
          <p:cNvPr id="15" name="TextBox 14"/>
          <p:cNvSpPr txBox="1"/>
          <p:nvPr/>
        </p:nvSpPr>
        <p:spPr>
          <a:xfrm>
            <a:off x="9052560" y="2029968"/>
            <a:ext cx="2651760" cy="457200"/>
          </a:xfrm>
          <a:prstGeom prst="rect">
            <a:avLst/>
          </a:prstGeom>
          <a:noFill/>
        </p:spPr>
        <p:txBody>
          <a:bodyPr wrap="square" lIns="45720" rIns="45720" tIns="18288" bIns="18288" anchor="ctr">
            <a:spAutoFit/>
          </a:bodyPr>
          <a:lstStyle/>
          <a:p>
            <a:pPr algn="l">
              <a:spcAft>
                <a:spcPts val="400"/>
              </a:spcAft>
            </a:pPr>
            <a:r>
              <a:rPr sz="1500" b="0" i="0">
                <a:solidFill>
                  <a:srgbClr val="262B36"/>
                </a:solidFill>
                <a:latin typeface="Calibri"/>
              </a:rPr>
              <a:t>₹349.61 ≈ $4.2</a:t>
            </a:r>
          </a:p>
        </p:txBody>
      </p:sp>
      <p:sp>
        <p:nvSpPr>
          <p:cNvPr id="16" name="Rectangle 15"/>
          <p:cNvSpPr/>
          <p:nvPr/>
        </p:nvSpPr>
        <p:spPr>
          <a:xfrm>
            <a:off x="7315200" y="2596896"/>
            <a:ext cx="109728" cy="438912"/>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2596896"/>
            <a:ext cx="146304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GCP</a:t>
            </a:r>
          </a:p>
        </p:txBody>
      </p:sp>
      <p:sp>
        <p:nvSpPr>
          <p:cNvPr id="18" name="TextBox 17"/>
          <p:cNvSpPr txBox="1"/>
          <p:nvPr/>
        </p:nvSpPr>
        <p:spPr>
          <a:xfrm>
            <a:off x="9052560" y="2596896"/>
            <a:ext cx="2651760" cy="457200"/>
          </a:xfrm>
          <a:prstGeom prst="rect">
            <a:avLst/>
          </a:prstGeom>
          <a:noFill/>
        </p:spPr>
        <p:txBody>
          <a:bodyPr wrap="square" lIns="45720" rIns="45720" tIns="18288" bIns="18288" anchor="ctr">
            <a:spAutoFit/>
          </a:bodyPr>
          <a:lstStyle/>
          <a:p>
            <a:pPr algn="l">
              <a:spcAft>
                <a:spcPts val="400"/>
              </a:spcAft>
            </a:pPr>
            <a:r>
              <a:rPr sz="1500" b="0" i="0">
                <a:solidFill>
                  <a:srgbClr val="262B36"/>
                </a:solidFill>
                <a:latin typeface="Calibri"/>
              </a:rPr>
              <a:t>₹474.75 (credits)</a:t>
            </a:r>
          </a:p>
        </p:txBody>
      </p:sp>
      <p:sp>
        <p:nvSpPr>
          <p:cNvPr id="19" name="Rectangle 18"/>
          <p:cNvSpPr/>
          <p:nvPr/>
        </p:nvSpPr>
        <p:spPr>
          <a:xfrm>
            <a:off x="7315200" y="3163824"/>
            <a:ext cx="109728" cy="438912"/>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0" y="3163824"/>
            <a:ext cx="1463040" cy="457200"/>
          </a:xfrm>
          <a:prstGeom prst="rect">
            <a:avLst/>
          </a:prstGeom>
          <a:noFill/>
        </p:spPr>
        <p:txBody>
          <a:bodyPr wrap="square" lIns="45720" rIns="45720" tIns="18288" bIns="18288" anchor="ctr">
            <a:spAutoFit/>
          </a:bodyPr>
          <a:lstStyle/>
          <a:p>
            <a:pPr algn="l">
              <a:spcAft>
                <a:spcPts val="400"/>
              </a:spcAft>
            </a:pPr>
            <a:r>
              <a:rPr sz="1500" b="1" i="0">
                <a:solidFill>
                  <a:srgbClr val="262B36"/>
                </a:solidFill>
                <a:latin typeface="Calibri"/>
              </a:rPr>
              <a:t>Atlas M0</a:t>
            </a:r>
          </a:p>
        </p:txBody>
      </p:sp>
      <p:sp>
        <p:nvSpPr>
          <p:cNvPr id="21" name="TextBox 20"/>
          <p:cNvSpPr txBox="1"/>
          <p:nvPr/>
        </p:nvSpPr>
        <p:spPr>
          <a:xfrm>
            <a:off x="9052560" y="3163824"/>
            <a:ext cx="2651760" cy="457200"/>
          </a:xfrm>
          <a:prstGeom prst="rect">
            <a:avLst/>
          </a:prstGeom>
          <a:noFill/>
        </p:spPr>
        <p:txBody>
          <a:bodyPr wrap="square" lIns="45720" rIns="45720" tIns="18288" bIns="18288" anchor="ctr">
            <a:spAutoFit/>
          </a:bodyPr>
          <a:lstStyle/>
          <a:p>
            <a:pPr algn="l">
              <a:spcAft>
                <a:spcPts val="400"/>
              </a:spcAft>
            </a:pPr>
            <a:r>
              <a:rPr sz="1500" b="0" i="0">
                <a:solidFill>
                  <a:srgbClr val="262B36"/>
                </a:solidFill>
                <a:latin typeface="Calibri"/>
              </a:rPr>
              <a:t>$0</a:t>
            </a:r>
          </a:p>
        </p:txBody>
      </p:sp>
      <p:sp>
        <p:nvSpPr>
          <p:cNvPr id="22" name="TextBox 21"/>
          <p:cNvSpPr txBox="1"/>
          <p:nvPr/>
        </p:nvSpPr>
        <p:spPr>
          <a:xfrm>
            <a:off x="7315200" y="3886200"/>
            <a:ext cx="4389120" cy="2377440"/>
          </a:xfrm>
          <a:prstGeom prst="rect">
            <a:avLst/>
          </a:prstGeom>
          <a:noFill/>
        </p:spPr>
        <p:txBody>
          <a:bodyPr wrap="square" lIns="45720" rIns="45720" tIns="18288" bIns="18288" anchor="t">
            <a:spAutoFit/>
          </a:bodyPr>
          <a:lstStyle/>
          <a:p>
            <a:pPr algn="l">
              <a:spcAft>
                <a:spcPts val="400"/>
              </a:spcAft>
            </a:pPr>
            <a:r>
              <a:rPr sz="1400" b="0" i="0">
                <a:solidFill>
                  <a:srgbClr val="1A73E8"/>
                </a:solidFill>
                <a:latin typeface="Calibri"/>
              </a:rPr>
              <a:t>▪ </a:t>
            </a:r>
            <a:r>
              <a:rPr sz="1400" b="1" i="0">
                <a:solidFill>
                  <a:srgbClr val="262B36"/>
                </a:solidFill>
                <a:latin typeface="Calibri"/>
              </a:rPr>
              <a:t>Clusters only during sessions</a:t>
            </a:r>
            <a:r>
              <a:rPr sz="1400" b="0" i="0">
                <a:solidFill>
                  <a:srgbClr val="262B36"/>
                </a:solidFill>
                <a:latin typeface="Calibri"/>
              </a:rPr>
              <a:t/>
            </a:r>
          </a:p>
          <a:p>
            <a:pPr algn="l">
              <a:spcAft>
                <a:spcPts val="400"/>
              </a:spcAft>
            </a:pPr>
            <a:r>
              <a:rPr sz="1400" b="0" i="0">
                <a:solidFill>
                  <a:srgbClr val="1A73E8"/>
                </a:solidFill>
                <a:latin typeface="Calibri"/>
              </a:rPr>
              <a:t>▪ </a:t>
            </a:r>
            <a:r>
              <a:rPr sz="1400" b="1" i="0">
                <a:solidFill>
                  <a:srgbClr val="262B36"/>
                </a:solidFill>
                <a:latin typeface="Calibri"/>
              </a:rPr>
              <a:t>Standbys asleep: −60 % node cost</a:t>
            </a:r>
            <a:r>
              <a:rPr sz="1400" b="0" i="0">
                <a:solidFill>
                  <a:srgbClr val="262B36"/>
                </a:solidFill>
                <a:latin typeface="Calibri"/>
              </a:rPr>
              <a:t/>
            </a:r>
          </a:p>
          <a:p>
            <a:pPr algn="l">
              <a:spcAft>
                <a:spcPts val="400"/>
              </a:spcAft>
            </a:pPr>
            <a:r>
              <a:rPr sz="1400" b="0" i="0">
                <a:solidFill>
                  <a:srgbClr val="1A73E8"/>
                </a:solidFill>
                <a:latin typeface="Calibri"/>
              </a:rPr>
              <a:t>▪ </a:t>
            </a:r>
            <a:r>
              <a:rPr sz="1400" b="1" i="0">
                <a:solidFill>
                  <a:srgbClr val="262B36"/>
                </a:solidFill>
                <a:latin typeface="Calibri"/>
              </a:rPr>
              <a:t>Budgets + alerts in every cloud</a:t>
            </a:r>
            <a:r>
              <a:rPr sz="1400" b="0" i="0">
                <a:solidFill>
                  <a:srgbClr val="262B36"/>
                </a:solidFill>
                <a:latin typeface="Calibri"/>
              </a:rPr>
              <a:t/>
            </a:r>
          </a:p>
          <a:p>
            <a:pPr algn="l">
              <a:spcAft>
                <a:spcPts val="400"/>
              </a:spcAft>
            </a:pPr>
            <a:r>
              <a:rPr sz="1400" b="0" i="0">
                <a:solidFill>
                  <a:srgbClr val="1A73E8"/>
                </a:solidFill>
                <a:latin typeface="Calibri"/>
              </a:rPr>
              <a:t>▪ </a:t>
            </a:r>
            <a:r>
              <a:rPr sz="1400" b="1" i="0">
                <a:solidFill>
                  <a:srgbClr val="262B36"/>
                </a:solidFill>
                <a:latin typeface="Calibri"/>
              </a:rPr>
              <a:t>Teardown refuses to orphan LBs/disks</a:t>
            </a:r>
            <a:r>
              <a:rPr sz="1400" b="0" i="0">
                <a:solidFill>
                  <a:srgbClr val="262B36"/>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RESULTS</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Final end-to-end test — everything at once</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12</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819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Session start (3 clusters in parallel)</a:t>
            </a:r>
          </a:p>
        </p:txBody>
      </p:sp>
      <p:sp>
        <p:nvSpPr>
          <p:cNvPr id="10" name="TextBox 9"/>
          <p:cNvSpPr txBox="1"/>
          <p:nvPr/>
        </p:nvSpPr>
        <p:spPr>
          <a:xfrm>
            <a:off x="777240" y="21488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failed=0 · 23 min</a:t>
            </a:r>
          </a:p>
        </p:txBody>
      </p:sp>
      <p:sp>
        <p:nvSpPr>
          <p:cNvPr id="11" name="Rectangle 10"/>
          <p:cNvSpPr/>
          <p:nvPr/>
        </p:nvSpPr>
        <p:spPr>
          <a:xfrm>
            <a:off x="3977640" y="14173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77640" y="14173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15819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Shop in 3 clouds, shared data</a:t>
            </a:r>
          </a:p>
        </p:txBody>
      </p:sp>
      <p:sp>
        <p:nvSpPr>
          <p:cNvPr id="14" name="TextBox 13"/>
          <p:cNvSpPr txBox="1"/>
          <p:nvPr/>
        </p:nvSpPr>
        <p:spPr>
          <a:xfrm>
            <a:off x="4206240" y="21488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6/6 ready ×3</a:t>
            </a:r>
          </a:p>
        </p:txBody>
      </p:sp>
      <p:sp>
        <p:nvSpPr>
          <p:cNvPr id="15" name="Rectangle 14"/>
          <p:cNvSpPr/>
          <p:nvPr/>
        </p:nvSpPr>
        <p:spPr>
          <a:xfrm>
            <a:off x="548640" y="30175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175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821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CI → CD, one merge</a:t>
            </a:r>
          </a:p>
        </p:txBody>
      </p:sp>
      <p:sp>
        <p:nvSpPr>
          <p:cNvPr id="18" name="TextBox 17"/>
          <p:cNvSpPr txBox="1"/>
          <p:nvPr/>
        </p:nvSpPr>
        <p:spPr>
          <a:xfrm>
            <a:off x="777240" y="37490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live ×3 · 4:57</a:t>
            </a:r>
          </a:p>
        </p:txBody>
      </p:sp>
      <p:sp>
        <p:nvSpPr>
          <p:cNvPr id="19" name="Rectangle 18"/>
          <p:cNvSpPr/>
          <p:nvPr/>
        </p:nvSpPr>
        <p:spPr>
          <a:xfrm>
            <a:off x="3977640" y="30175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77640" y="30175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821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Alert → Slack → resolved</a:t>
            </a:r>
          </a:p>
        </p:txBody>
      </p:sp>
      <p:sp>
        <p:nvSpPr>
          <p:cNvPr id="22" name="TextBox 21"/>
          <p:cNvSpPr txBox="1"/>
          <p:nvPr/>
        </p:nvSpPr>
        <p:spPr>
          <a:xfrm>
            <a:off x="4206240" y="37490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 3 min</a:t>
            </a:r>
          </a:p>
        </p:txBody>
      </p:sp>
      <p:sp>
        <p:nvSpPr>
          <p:cNvPr id="23" name="Rectangle 22"/>
          <p:cNvSpPr/>
          <p:nvPr/>
        </p:nvSpPr>
        <p:spPr>
          <a:xfrm>
            <a:off x="548640" y="46177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177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7823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Backup + restore from 3 clouds</a:t>
            </a:r>
          </a:p>
        </p:txBody>
      </p:sp>
      <p:sp>
        <p:nvSpPr>
          <p:cNvPr id="26" name="TextBox 25"/>
          <p:cNvSpPr txBox="1"/>
          <p:nvPr/>
        </p:nvSpPr>
        <p:spPr>
          <a:xfrm>
            <a:off x="777240" y="53492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3/3 passed</a:t>
            </a:r>
          </a:p>
        </p:txBody>
      </p:sp>
      <p:sp>
        <p:nvSpPr>
          <p:cNvPr id="27" name="Rectangle 26"/>
          <p:cNvSpPr/>
          <p:nvPr/>
        </p:nvSpPr>
        <p:spPr>
          <a:xfrm>
            <a:off x="3977640" y="4617720"/>
            <a:ext cx="3246120" cy="1417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77640" y="4617720"/>
            <a:ext cx="73152" cy="141732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06240" y="4782312"/>
            <a:ext cx="2926080" cy="548640"/>
          </a:xfrm>
          <a:prstGeom prst="rect">
            <a:avLst/>
          </a:prstGeom>
          <a:noFill/>
        </p:spPr>
        <p:txBody>
          <a:bodyPr wrap="square" lIns="45720" rIns="45720" tIns="18288" bIns="18288" anchor="t">
            <a:spAutoFit/>
          </a:bodyPr>
          <a:lstStyle/>
          <a:p>
            <a:pPr algn="l">
              <a:spcAft>
                <a:spcPts val="400"/>
              </a:spcAft>
            </a:pPr>
            <a:r>
              <a:rPr sz="1500" b="0" i="0">
                <a:solidFill>
                  <a:srgbClr val="262B36"/>
                </a:solidFill>
                <a:latin typeface="Calibri"/>
              </a:rPr>
              <a:t>Automatic failover</a:t>
            </a:r>
          </a:p>
        </p:txBody>
      </p:sp>
      <p:sp>
        <p:nvSpPr>
          <p:cNvPr id="30" name="TextBox 29"/>
          <p:cNvSpPr txBox="1"/>
          <p:nvPr/>
        </p:nvSpPr>
        <p:spPr>
          <a:xfrm>
            <a:off x="4206240" y="5349240"/>
            <a:ext cx="2926080" cy="548640"/>
          </a:xfrm>
          <a:prstGeom prst="rect">
            <a:avLst/>
          </a:prstGeom>
          <a:noFill/>
        </p:spPr>
        <p:txBody>
          <a:bodyPr wrap="square" lIns="45720" rIns="45720" tIns="18288" bIns="18288" anchor="t">
            <a:spAutoFit/>
          </a:bodyPr>
          <a:lstStyle/>
          <a:p>
            <a:pPr algn="l">
              <a:spcAft>
                <a:spcPts val="400"/>
              </a:spcAft>
            </a:pPr>
            <a:r>
              <a:rPr sz="2200" b="1" i="0">
                <a:solidFill>
                  <a:srgbClr val="1E8E3E"/>
                </a:solidFill>
                <a:latin typeface="Calibri"/>
              </a:rPr>
              <a:t>✔ RTO 3:42</a:t>
            </a:r>
          </a:p>
        </p:txBody>
      </p:sp>
      <p:sp>
        <p:nvSpPr>
          <p:cNvPr id="31" name="TextBox 30"/>
          <p:cNvSpPr txBox="1"/>
          <p:nvPr/>
        </p:nvSpPr>
        <p:spPr>
          <a:xfrm>
            <a:off x="7589520" y="1371600"/>
            <a:ext cx="4114800" cy="457200"/>
          </a:xfrm>
          <a:prstGeom prst="rect">
            <a:avLst/>
          </a:prstGeom>
          <a:noFill/>
        </p:spPr>
        <p:txBody>
          <a:bodyPr wrap="square" lIns="45720" rIns="45720" tIns="18288" bIns="18288" anchor="t">
            <a:spAutoFit/>
          </a:bodyPr>
          <a:lstStyle/>
          <a:p>
            <a:pPr algn="l">
              <a:spcAft>
                <a:spcPts val="400"/>
              </a:spcAft>
            </a:pPr>
            <a:r>
              <a:rPr sz="1800" b="1" i="0">
                <a:solidFill>
                  <a:srgbClr val="142447"/>
                </a:solidFill>
                <a:latin typeface="Calibri"/>
              </a:rPr>
              <a:t>What the test taught us</a:t>
            </a:r>
          </a:p>
        </p:txBody>
      </p:sp>
      <p:sp>
        <p:nvSpPr>
          <p:cNvPr id="32" name="TextBox 31"/>
          <p:cNvSpPr txBox="1"/>
          <p:nvPr/>
        </p:nvSpPr>
        <p:spPr>
          <a:xfrm>
            <a:off x="7589520" y="1828800"/>
            <a:ext cx="4114800" cy="4480560"/>
          </a:xfrm>
          <a:prstGeom prst="rect">
            <a:avLst/>
          </a:prstGeom>
          <a:noFill/>
        </p:spPr>
        <p:txBody>
          <a:bodyPr wrap="square" lIns="45720" rIns="45720" tIns="18288" bIns="18288" anchor="t">
            <a:spAutoFit/>
          </a:bodyPr>
          <a:lstStyle/>
          <a:p>
            <a:pPr algn="l">
              <a:spcAft>
                <a:spcPts val="1200"/>
              </a:spcAft>
            </a:pPr>
            <a:r>
              <a:rPr sz="1500" b="0" i="0">
                <a:solidFill>
                  <a:srgbClr val="1A73E8"/>
                </a:solidFill>
                <a:latin typeface="Calibri"/>
              </a:rPr>
              <a:t>▪ </a:t>
            </a:r>
            <a:r>
              <a:rPr sz="1500" b="0" i="0">
                <a:solidFill>
                  <a:srgbClr val="262B36"/>
                </a:solidFill>
                <a:latin typeface="Calibri"/>
              </a:rPr>
              <a:t>Expired SSO login and a changing home IP → documented recovery steps</a:t>
            </a:r>
          </a:p>
          <a:p>
            <a:pPr algn="l">
              <a:spcAft>
                <a:spcPts val="1200"/>
              </a:spcAft>
            </a:pPr>
            <a:r>
              <a:rPr sz="1500" b="0" i="0">
                <a:solidFill>
                  <a:srgbClr val="1A73E8"/>
                </a:solidFill>
                <a:latin typeface="Calibri"/>
              </a:rPr>
              <a:t>▪ </a:t>
            </a:r>
            <a:r>
              <a:rPr sz="1500" b="0" i="0">
                <a:solidFill>
                  <a:srgbClr val="262B36"/>
                </a:solidFill>
                <a:latin typeface="Calibri"/>
              </a:rPr>
              <a:t>One GitHub CDN address unreachable from the ISP → measure, don't guess</a:t>
            </a:r>
          </a:p>
          <a:p>
            <a:pPr algn="l">
              <a:spcAft>
                <a:spcPts val="1200"/>
              </a:spcAft>
            </a:pPr>
            <a:r>
              <a:rPr sz="1500" b="0" i="0">
                <a:solidFill>
                  <a:srgbClr val="1A73E8"/>
                </a:solidFill>
                <a:latin typeface="Calibri"/>
              </a:rPr>
              <a:t>▪ </a:t>
            </a:r>
            <a:r>
              <a:rPr sz="1500" b="0" i="0">
                <a:solidFill>
                  <a:srgbClr val="262B36"/>
                </a:solidFill>
                <a:latin typeface="Calibri"/>
              </a:rPr>
              <a:t>Disruption budgets stall a scale-to-zero → drain with eviction disabled</a:t>
            </a:r>
          </a:p>
          <a:p>
            <a:pPr algn="l">
              <a:spcAft>
                <a:spcPts val="1200"/>
              </a:spcAft>
            </a:pPr>
            <a:r>
              <a:rPr sz="1500" b="0" i="0">
                <a:solidFill>
                  <a:srgbClr val="1A73E8"/>
                </a:solidFill>
                <a:latin typeface="Calibri"/>
              </a:rPr>
              <a:t>▪ </a:t>
            </a:r>
            <a:r>
              <a:rPr sz="1500" b="0" i="0">
                <a:solidFill>
                  <a:srgbClr val="262B36"/>
                </a:solidFill>
                <a:latin typeface="Calibri"/>
              </a:rPr>
              <a:t>An AWS load balancer outlived its controller → teardown safety stop caught it</a:t>
            </a:r>
          </a:p>
          <a:p>
            <a:pPr algn="l">
              <a:spcAft>
                <a:spcPts val="1200"/>
              </a:spcAft>
            </a:pPr>
            <a:r>
              <a:rPr sz="1500" b="0" i="0">
                <a:solidFill>
                  <a:srgbClr val="1A73E8"/>
                </a:solidFill>
                <a:latin typeface="Calibri"/>
              </a:rPr>
              <a:t>▪ </a:t>
            </a:r>
            <a:r>
              <a:rPr sz="1500" b="0" i="0">
                <a:solidFill>
                  <a:srgbClr val="262B36"/>
                </a:solidFill>
                <a:latin typeface="Calibri"/>
              </a:rPr>
              <a:t>Old 0.0.0.0/0 on the database allow-list → removed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20040"/>
          </a:xfrm>
          <a:prstGeom prst="rect">
            <a:avLst/>
          </a:prstGeom>
          <a:noFill/>
        </p:spPr>
        <p:txBody>
          <a:bodyPr wrap="square" lIns="45720" rIns="45720" tIns="18288" bIns="18288" anchor="t">
            <a:spAutoFit/>
          </a:bodyPr>
          <a:lstStyle/>
          <a:p>
            <a:pPr algn="l">
              <a:spcAft>
                <a:spcPts val="400"/>
              </a:spcAft>
            </a:pPr>
            <a:r>
              <a:rPr sz="1200" b="1" i="0">
                <a:solidFill>
                  <a:srgbClr val="1A73E8"/>
                </a:solidFill>
                <a:latin typeface="Calibri"/>
              </a:rPr>
              <a:t>HONEST SCOPE</a:t>
            </a:r>
          </a:p>
        </p:txBody>
      </p:sp>
      <p:sp>
        <p:nvSpPr>
          <p:cNvPr id="4" name="TextBox 3"/>
          <p:cNvSpPr txBox="1"/>
          <p:nvPr/>
        </p:nvSpPr>
        <p:spPr>
          <a:xfrm>
            <a:off x="548640" y="566928"/>
            <a:ext cx="10972800" cy="731520"/>
          </a:xfrm>
          <a:prstGeom prst="rect">
            <a:avLst/>
          </a:prstGeom>
          <a:noFill/>
        </p:spPr>
        <p:txBody>
          <a:bodyPr wrap="square" lIns="45720" rIns="45720" tIns="18288" bIns="18288" anchor="t">
            <a:spAutoFit/>
          </a:bodyPr>
          <a:lstStyle/>
          <a:p>
            <a:pPr algn="l">
              <a:spcAft>
                <a:spcPts val="400"/>
              </a:spcAft>
            </a:pPr>
            <a:r>
              <a:rPr sz="3000" b="1" i="0">
                <a:solidFill>
                  <a:srgbClr val="142447"/>
                </a:solidFill>
                <a:latin typeface="Calibri"/>
              </a:rPr>
              <a:t>Limitations and possible improvements</a:t>
            </a:r>
          </a:p>
        </p:txBody>
      </p:sp>
      <p:sp>
        <p:nvSpPr>
          <p:cNvPr id="5" name="TextBox 4"/>
          <p:cNvSpPr txBox="1"/>
          <p:nvPr/>
        </p:nvSpPr>
        <p:spPr>
          <a:xfrm>
            <a:off x="10881360" y="6446520"/>
            <a:ext cx="822960" cy="274320"/>
          </a:xfrm>
          <a:prstGeom prst="rect">
            <a:avLst/>
          </a:prstGeom>
          <a:noFill/>
        </p:spPr>
        <p:txBody>
          <a:bodyPr wrap="square" lIns="45720" rIns="45720" tIns="18288" bIns="18288" anchor="t">
            <a:spAutoFit/>
          </a:bodyPr>
          <a:lstStyle/>
          <a:p>
            <a:pPr algn="r">
              <a:spcAft>
                <a:spcPts val="400"/>
              </a:spcAft>
            </a:pPr>
            <a:r>
              <a:rPr sz="1100" b="0" i="0">
                <a:solidFill>
                  <a:srgbClr val="5F6778"/>
                </a:solidFill>
                <a:latin typeface="Calibri"/>
              </a:rPr>
              <a:t>13</a:t>
            </a:r>
          </a:p>
        </p:txBody>
      </p:sp>
      <p:sp>
        <p:nvSpPr>
          <p:cNvPr id="6" name="TextBox 5"/>
          <p:cNvSpPr txBox="1"/>
          <p:nvPr/>
        </p:nvSpPr>
        <p:spPr>
          <a:xfrm>
            <a:off x="548640" y="6446520"/>
            <a:ext cx="7315200" cy="274320"/>
          </a:xfrm>
          <a:prstGeom prst="rect">
            <a:avLst/>
          </a:prstGeom>
          <a:noFill/>
        </p:spPr>
        <p:txBody>
          <a:bodyPr wrap="square" lIns="45720" rIns="45720" tIns="18288" bIns="18288" anchor="t">
            <a:spAutoFit/>
          </a:bodyPr>
          <a:lstStyle/>
          <a:p>
            <a:pPr algn="l">
              <a:spcAft>
                <a:spcPts val="400"/>
              </a:spcAft>
            </a:pPr>
            <a:r>
              <a:rPr sz="1100" b="0" i="0">
                <a:solidFill>
                  <a:srgbClr val="5F6778"/>
                </a:solidFill>
                <a:latin typeface="Calibri"/>
              </a:rPr>
              <a:t>Multi-Cloud MERN Platform · HeroVired Capstone #5</a:t>
            </a:r>
          </a:p>
        </p:txBody>
      </p:sp>
      <p:sp>
        <p:nvSpPr>
          <p:cNvPr id="7" name="Rectangle 6"/>
          <p:cNvSpPr/>
          <p:nvPr/>
        </p:nvSpPr>
        <p:spPr>
          <a:xfrm>
            <a:off x="548640" y="1417320"/>
            <a:ext cx="5440680" cy="47548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73152" cy="47548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27048"/>
            <a:ext cx="5120640" cy="411480"/>
          </a:xfrm>
          <a:prstGeom prst="rect">
            <a:avLst/>
          </a:prstGeom>
          <a:noFill/>
        </p:spPr>
        <p:txBody>
          <a:bodyPr wrap="square" lIns="45720" rIns="45720" tIns="18288" bIns="18288" anchor="t">
            <a:spAutoFit/>
          </a:bodyPr>
          <a:lstStyle/>
          <a:p>
            <a:pPr algn="l">
              <a:spcAft>
                <a:spcPts val="400"/>
              </a:spcAft>
            </a:pPr>
            <a:r>
              <a:rPr sz="2000" b="1" i="0">
                <a:solidFill>
                  <a:srgbClr val="142447"/>
                </a:solidFill>
                <a:latin typeface="Calibri"/>
              </a:rPr>
              <a:t>Known limitations</a:t>
            </a:r>
          </a:p>
        </p:txBody>
      </p:sp>
      <p:sp>
        <p:nvSpPr>
          <p:cNvPr id="10" name="TextBox 9"/>
          <p:cNvSpPr txBox="1"/>
          <p:nvPr/>
        </p:nvSpPr>
        <p:spPr>
          <a:xfrm>
            <a:off x="749808" y="1920240"/>
            <a:ext cx="5120640" cy="4206240"/>
          </a:xfrm>
          <a:prstGeom prst="rect">
            <a:avLst/>
          </a:prstGeom>
          <a:noFill/>
        </p:spPr>
        <p:txBody>
          <a:bodyPr wrap="square" lIns="45720" rIns="45720" tIns="18288" bIns="18288" anchor="t">
            <a:spAutoFit/>
          </a:bodyPr>
          <a:lstStyle/>
          <a:p>
            <a:pPr algn="l">
              <a:spcAft>
                <a:spcPts val="400"/>
              </a:spcAft>
            </a:pPr>
            <a:r>
              <a:rPr sz="1800" b="0" i="0">
                <a:solidFill>
                  <a:srgbClr val="262B36"/>
                </a:solidFill>
                <a:latin typeface="Calibri"/>
              </a:rPr>
              <a:t>▪ One shared Atlas M0 database — protected by 3-cloud backups, not live replication</a:t>
            </a:r>
          </a:p>
          <a:p>
            <a:pPr algn="l">
              <a:spcAft>
                <a:spcPts val="400"/>
              </a:spcAft>
            </a:pPr>
            <a:r>
              <a:rPr sz="1800" b="0" i="0">
                <a:solidFill>
                  <a:srgbClr val="262B36"/>
                </a:solidFill>
                <a:latin typeface="Calibri"/>
              </a:rPr>
              <a:t>▪ Terraform applied through guarded Ansible, not a GitHub Actions pipeline</a:t>
            </a:r>
          </a:p>
          <a:p>
            <a:pPr algn="l">
              <a:spcAft>
                <a:spcPts val="400"/>
              </a:spcAft>
            </a:pPr>
            <a:r>
              <a:rPr sz="1800" b="0" i="0">
                <a:solidFill>
                  <a:srgbClr val="262B36"/>
                </a:solidFill>
                <a:latin typeface="Calibri"/>
              </a:rPr>
              <a:t>▪ Jenkins + central Grafana live in the primary (break-glass deploy covers outages)</a:t>
            </a:r>
          </a:p>
          <a:p>
            <a:pPr algn="l">
              <a:spcAft>
                <a:spcPts val="400"/>
              </a:spcAft>
            </a:pPr>
            <a:r>
              <a:rPr sz="1800" b="0" i="0">
                <a:solidFill>
                  <a:srgbClr val="262B36"/>
                </a:solidFill>
                <a:latin typeface="Calibri"/>
              </a:rPr>
              <a:t>▪ Waking a standby takes minutes — a deliberate cost trade-off</a:t>
            </a:r>
          </a:p>
          <a:p>
            <a:pPr algn="l">
              <a:spcAft>
                <a:spcPts val="400"/>
              </a:spcAft>
            </a:pPr>
            <a:r>
              <a:rPr sz="1800" b="0" i="0">
                <a:solidFill>
                  <a:srgbClr val="262B36"/>
                </a:solidFill>
                <a:latin typeface="Calibri"/>
              </a:rPr>
              <a:t>▪ Chat (Socket.IO) keeps state in memory → 1 replica</a:t>
            </a:r>
          </a:p>
        </p:txBody>
      </p:sp>
      <p:sp>
        <p:nvSpPr>
          <p:cNvPr id="11" name="Rectangle 10"/>
          <p:cNvSpPr/>
          <p:nvPr/>
        </p:nvSpPr>
        <p:spPr>
          <a:xfrm>
            <a:off x="6172200" y="1417320"/>
            <a:ext cx="5440680" cy="4754880"/>
          </a:xfrm>
          <a:prstGeom prst="rect">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417320"/>
            <a:ext cx="73152" cy="4754880"/>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527048"/>
            <a:ext cx="5120640" cy="411480"/>
          </a:xfrm>
          <a:prstGeom prst="rect">
            <a:avLst/>
          </a:prstGeom>
          <a:noFill/>
        </p:spPr>
        <p:txBody>
          <a:bodyPr wrap="square" lIns="45720" rIns="45720" tIns="18288" bIns="18288" anchor="t">
            <a:spAutoFit/>
          </a:bodyPr>
          <a:lstStyle/>
          <a:p>
            <a:pPr algn="l">
              <a:spcAft>
                <a:spcPts val="400"/>
              </a:spcAft>
            </a:pPr>
            <a:r>
              <a:rPr sz="2000" b="1" i="0">
                <a:solidFill>
                  <a:srgbClr val="142447"/>
                </a:solidFill>
                <a:latin typeface="Calibri"/>
              </a:rPr>
              <a:t>Possible improvements</a:t>
            </a:r>
          </a:p>
        </p:txBody>
      </p:sp>
      <p:sp>
        <p:nvSpPr>
          <p:cNvPr id="14" name="TextBox 13"/>
          <p:cNvSpPr txBox="1"/>
          <p:nvPr/>
        </p:nvSpPr>
        <p:spPr>
          <a:xfrm>
            <a:off x="6373368" y="1920240"/>
            <a:ext cx="5120640" cy="4206240"/>
          </a:xfrm>
          <a:prstGeom prst="rect">
            <a:avLst/>
          </a:prstGeom>
          <a:noFill/>
        </p:spPr>
        <p:txBody>
          <a:bodyPr wrap="square" lIns="45720" rIns="45720" tIns="18288" bIns="18288" anchor="t">
            <a:spAutoFit/>
          </a:bodyPr>
          <a:lstStyle/>
          <a:p>
            <a:pPr algn="l">
              <a:spcAft>
                <a:spcPts val="400"/>
              </a:spcAft>
            </a:pPr>
            <a:r>
              <a:rPr sz="1800" b="0" i="0">
                <a:solidFill>
                  <a:srgbClr val="262B36"/>
                </a:solidFill>
                <a:latin typeface="Calibri"/>
              </a:rPr>
              <a:t>▪ Fix standby sleep (drain + wait) and AWS load-balancer teardown order</a:t>
            </a:r>
          </a:p>
          <a:p>
            <a:pPr algn="l">
              <a:spcAft>
                <a:spcPts val="400"/>
              </a:spcAft>
            </a:pPr>
            <a:r>
              <a:rPr sz="1800" b="0" i="0">
                <a:solidFill>
                  <a:srgbClr val="262B36"/>
                </a:solidFill>
                <a:latin typeface="Calibri"/>
              </a:rPr>
              <a:t>▪ Terraform plan/apply in GitHub Actions (identities already exist)</a:t>
            </a:r>
          </a:p>
          <a:p>
            <a:pPr algn="l">
              <a:spcAft>
                <a:spcPts val="400"/>
              </a:spcAft>
            </a:pPr>
            <a:r>
              <a:rPr sz="1800" b="0" i="0">
                <a:solidFill>
                  <a:srgbClr val="262B36"/>
                </a:solidFill>
                <a:latin typeface="Calibri"/>
              </a:rPr>
              <a:t>▪ Multi-region Atlas for live cross-cloud data</a:t>
            </a:r>
          </a:p>
          <a:p>
            <a:pPr algn="l">
              <a:spcAft>
                <a:spcPts val="400"/>
              </a:spcAft>
            </a:pPr>
            <a:r>
              <a:rPr sz="1800" b="0" i="0">
                <a:solidFill>
                  <a:srgbClr val="262B36"/>
                </a:solidFill>
                <a:latin typeface="Calibri"/>
              </a:rPr>
              <a:t>▪ Move CD and central Grafana out of the primary cloud</a:t>
            </a:r>
          </a:p>
          <a:p>
            <a:pPr algn="l">
              <a:spcAft>
                <a:spcPts val="400"/>
              </a:spcAft>
            </a:pPr>
            <a:r>
              <a:rPr sz="1800" b="0" i="0">
                <a:solidFill>
                  <a:srgbClr val="262B36"/>
                </a:solidFill>
                <a:latin typeface="Calibri"/>
              </a:rPr>
              <a:t>▪ GitHub App instead of a personal token · Redis for Socket.IO · WAF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515600" cy="914400"/>
          </a:xfrm>
          <a:prstGeom prst="rect">
            <a:avLst/>
          </a:prstGeom>
          <a:noFill/>
        </p:spPr>
        <p:txBody>
          <a:bodyPr wrap="square" lIns="45720" rIns="45720" tIns="18288" bIns="18288" anchor="t">
            <a:spAutoFit/>
          </a:bodyPr>
          <a:lstStyle/>
          <a:p>
            <a:pPr algn="l">
              <a:spcAft>
                <a:spcPts val="400"/>
              </a:spcAft>
            </a:pPr>
            <a:r>
              <a:rPr sz="4800" b="1" i="0">
                <a:solidFill>
                  <a:srgbClr val="FFFFFF"/>
                </a:solidFill>
                <a:latin typeface="Calibri"/>
              </a:rPr>
              <a:t>Thank you — questions?</a:t>
            </a:r>
          </a:p>
        </p:txBody>
      </p:sp>
      <p:sp>
        <p:nvSpPr>
          <p:cNvPr id="4" name="TextBox 3"/>
          <p:cNvSpPr txBox="1"/>
          <p:nvPr/>
        </p:nvSpPr>
        <p:spPr>
          <a:xfrm>
            <a:off x="731520" y="2926080"/>
            <a:ext cx="10515600" cy="2194560"/>
          </a:xfrm>
          <a:prstGeom prst="rect">
            <a:avLst/>
          </a:prstGeom>
          <a:noFill/>
        </p:spPr>
        <p:txBody>
          <a:bodyPr wrap="square" lIns="45720" rIns="45720" tIns="18288" bIns="18288" anchor="t">
            <a:spAutoFit/>
          </a:bodyPr>
          <a:lstStyle/>
          <a:p>
            <a:pPr algn="l">
              <a:spcAft>
                <a:spcPts val="400"/>
              </a:spcAft>
            </a:pPr>
            <a:r>
              <a:rPr sz="1800" b="0" i="0">
                <a:solidFill>
                  <a:srgbClr val="C9D6EA"/>
                </a:solidFill>
                <a:latin typeface="Calibri"/>
              </a:rPr>
              <a:t>Live demo on request: shop in three clouds · a merge that deploys itself · failover drill</a:t>
            </a:r>
          </a:p>
          <a:p>
            <a:pPr algn="l">
              <a:spcAft>
                <a:spcPts val="400"/>
              </a:spcAft>
            </a:pPr>
            <a:r>
              <a:rPr sz="1800" b="0" i="0">
                <a:solidFill>
                  <a:srgbClr val="C9D6EA"/>
                </a:solidFill>
                <a:latin typeface="Calibri"/>
              </a:rPr>
              <a:t>Code &amp; handbook: github.com/ppmcad16a-cloud-platform  (core-cloud-platform → docs)</a:t>
            </a:r>
          </a:p>
          <a:p>
            <a:pPr algn="l">
              <a:spcAft>
                <a:spcPts val="400"/>
              </a:spcAft>
            </a:pPr>
            <a:r>
              <a:rPr sz="1800" b="0" i="0">
                <a:solidFill>
                  <a:srgbClr val="C9D6EA"/>
                </a:solidFill>
                <a:latin typeface="Calibri"/>
              </a:rPr>
              <a:t>Shop (during sessions): https://rishavmukhopadhyay.store</a:t>
            </a:r>
          </a:p>
        </p:txBody>
      </p:sp>
      <p:sp>
        <p:nvSpPr>
          <p:cNvPr id="5" name="Rectangle 4"/>
          <p:cNvSpPr/>
          <p:nvPr/>
        </p:nvSpPr>
        <p:spPr>
          <a:xfrm>
            <a:off x="731520" y="5394960"/>
            <a:ext cx="777240" cy="10972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0" y="5394960"/>
            <a:ext cx="777240" cy="109728"/>
          </a:xfrm>
          <a:prstGeom prst="rect">
            <a:avLst/>
          </a:prstGeom>
          <a:solidFill>
            <a:srgbClr val="008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0" y="5394960"/>
            <a:ext cx="777240" cy="10972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